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57" r:id="rId3"/>
    <p:sldId id="260" r:id="rId4"/>
    <p:sldId id="262" r:id="rId5"/>
    <p:sldId id="273" r:id="rId6"/>
    <p:sldId id="274" r:id="rId7"/>
    <p:sldId id="265" r:id="rId8"/>
    <p:sldId id="264" r:id="rId9"/>
    <p:sldId id="266" r:id="rId10"/>
    <p:sldId id="271" r:id="rId11"/>
    <p:sldId id="267" r:id="rId12"/>
    <p:sldId id="268" r:id="rId13"/>
    <p:sldId id="275" r:id="rId14"/>
    <p:sldId id="272" r:id="rId15"/>
    <p:sldId id="276" r:id="rId16"/>
    <p:sldId id="270"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E3F9D-B9FF-43B8-B990-EA14314A987A}" v="19" dt="2025-05-26T08:12:02.6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7" autoAdjust="0"/>
    <p:restoredTop sz="94677"/>
  </p:normalViewPr>
  <p:slideViewPr>
    <p:cSldViewPr>
      <p:cViewPr varScale="1">
        <p:scale>
          <a:sx n="78" d="100"/>
          <a:sy n="78" d="100"/>
        </p:scale>
        <p:origin x="151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B66219-A3B4-4441-A0E0-03A7417AF5B7}" type="datetimeFigureOut">
              <a:rPr lang="en-US" smtClean="0"/>
              <a:pPr/>
              <a:t>12/1/2025</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0DB821-51D7-440A-8AAC-BA53E3C35163}" type="slidenum">
              <a:rPr lang="en-IN" smtClean="0"/>
              <a:pPr/>
              <a:t>‹#›</a:t>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atin typeface="Times New Roman" pitchFamily="18" charset="0"/>
                <a:cs typeface="Times New Roman" pitchFamily="18" charset="0"/>
              </a:defRPr>
            </a:lvl1pPr>
          </a:lstStyle>
          <a:p>
            <a:r>
              <a:rPr lang="en-IN" dirty="0"/>
              <a:t>2021-22</a:t>
            </a:r>
          </a:p>
        </p:txBody>
      </p:sp>
      <p:sp>
        <p:nvSpPr>
          <p:cNvPr id="5" name="Footer Placeholder 4"/>
          <p:cNvSpPr>
            <a:spLocks noGrp="1"/>
          </p:cNvSpPr>
          <p:nvPr>
            <p:ph type="ftr" sz="quarter" idx="11"/>
          </p:nvPr>
        </p:nvSpPr>
        <p:spPr/>
        <p:txBody>
          <a:bodyPr/>
          <a:lstStyle/>
          <a:p>
            <a:r>
              <a:rPr lang="en-IN" dirty="0"/>
              <a:t>Dept. of CSE, VVIET, Mysuru-28</a:t>
            </a:r>
          </a:p>
        </p:txBody>
      </p:sp>
      <p:sp>
        <p:nvSpPr>
          <p:cNvPr id="6" name="Slide Number Placeholder 5"/>
          <p:cNvSpPr>
            <a:spLocks noGrp="1"/>
          </p:cNvSpPr>
          <p:nvPr>
            <p:ph type="sldNum" sz="quarter" idx="12"/>
          </p:nvPr>
        </p:nvSpPr>
        <p:spPr/>
        <p:txBody>
          <a:bodyPr/>
          <a:lstStyle>
            <a:lvl1pPr>
              <a:defRPr>
                <a:latin typeface="Times New Roman" pitchFamily="18" charset="0"/>
                <a:cs typeface="Times New Roman" pitchFamily="18" charset="0"/>
              </a:defRPr>
            </a:lvl1pPr>
          </a:lstStyle>
          <a:p>
            <a:fld id="{F60AEBAE-898E-45EA-8968-F56BCCECE61B}"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243637D-AC3B-49DF-9A05-03E1FCEF7985}" type="datetime1">
              <a:rPr lang="en-US" smtClean="0"/>
              <a:pPr/>
              <a:t>12/1/2025</a:t>
            </a:fld>
            <a:endParaRPr lang="en-IN" dirty="0"/>
          </a:p>
        </p:txBody>
      </p:sp>
      <p:sp>
        <p:nvSpPr>
          <p:cNvPr id="5" name="Footer Placeholder 4"/>
          <p:cNvSpPr>
            <a:spLocks noGrp="1"/>
          </p:cNvSpPr>
          <p:nvPr>
            <p:ph type="ftr" sz="quarter" idx="11"/>
          </p:nvPr>
        </p:nvSpPr>
        <p:spPr/>
        <p:txBody>
          <a:bodyPr/>
          <a:lstStyle>
            <a:lvl1pPr>
              <a:defRPr>
                <a:latin typeface="Times New Roman" pitchFamily="18" charset="0"/>
                <a:cs typeface="Times New Roman" pitchFamily="18" charset="0"/>
              </a:defRPr>
            </a:lvl1pPr>
          </a:lstStyle>
          <a:p>
            <a:r>
              <a:rPr lang="en-IN" dirty="0"/>
              <a:t>Dept. of CSE, VVIET, Mysuru-28</a:t>
            </a:r>
          </a:p>
        </p:txBody>
      </p:sp>
      <p:sp>
        <p:nvSpPr>
          <p:cNvPr id="6" name="Slide Number Placeholder 5"/>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629375-123A-440C-AA8E-1DA18F26B57A}" type="datetime1">
              <a:rPr lang="en-US" smtClean="0"/>
              <a:pPr/>
              <a:t>12/1/2025</a:t>
            </a:fld>
            <a:endParaRPr lang="en-IN" dirty="0"/>
          </a:p>
        </p:txBody>
      </p:sp>
      <p:sp>
        <p:nvSpPr>
          <p:cNvPr id="5" name="Footer Placeholder 4"/>
          <p:cNvSpPr>
            <a:spLocks noGrp="1"/>
          </p:cNvSpPr>
          <p:nvPr>
            <p:ph type="ftr" sz="quarter" idx="11"/>
          </p:nvPr>
        </p:nvSpPr>
        <p:spPr/>
        <p:txBody>
          <a:bodyPr/>
          <a:lstStyle/>
          <a:p>
            <a:r>
              <a:rPr lang="en-IN" dirty="0"/>
              <a:t>Dept. of CSE, VVIET, Mysuru-28</a:t>
            </a:r>
          </a:p>
        </p:txBody>
      </p:sp>
      <p:sp>
        <p:nvSpPr>
          <p:cNvPr id="6" name="Slide Number Placeholder 5"/>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56530DC-C481-4614-9FA1-0E2D8F367DE8}" type="datetime1">
              <a:rPr lang="en-US" smtClean="0"/>
              <a:pPr/>
              <a:t>12/1/2025</a:t>
            </a:fld>
            <a:endParaRPr lang="en-IN" dirty="0"/>
          </a:p>
        </p:txBody>
      </p:sp>
      <p:sp>
        <p:nvSpPr>
          <p:cNvPr id="6" name="Footer Placeholder 5"/>
          <p:cNvSpPr>
            <a:spLocks noGrp="1"/>
          </p:cNvSpPr>
          <p:nvPr>
            <p:ph type="ftr" sz="quarter" idx="11"/>
          </p:nvPr>
        </p:nvSpPr>
        <p:spPr/>
        <p:txBody>
          <a:bodyPr/>
          <a:lstStyle/>
          <a:p>
            <a:r>
              <a:rPr lang="en-IN" dirty="0"/>
              <a:t>Dept. of CSE, VVIET, Mysuru-28</a:t>
            </a:r>
          </a:p>
        </p:txBody>
      </p:sp>
      <p:sp>
        <p:nvSpPr>
          <p:cNvPr id="7" name="Slide Number Placeholder 6"/>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2D5FDDB-AC07-4D08-8431-B0BB796A1D7C}" type="datetime1">
              <a:rPr lang="en-US" smtClean="0"/>
              <a:pPr/>
              <a:t>12/1/2025</a:t>
            </a:fld>
            <a:endParaRPr lang="en-IN" dirty="0"/>
          </a:p>
        </p:txBody>
      </p:sp>
      <p:sp>
        <p:nvSpPr>
          <p:cNvPr id="8" name="Footer Placeholder 7"/>
          <p:cNvSpPr>
            <a:spLocks noGrp="1"/>
          </p:cNvSpPr>
          <p:nvPr>
            <p:ph type="ftr" sz="quarter" idx="11"/>
          </p:nvPr>
        </p:nvSpPr>
        <p:spPr/>
        <p:txBody>
          <a:bodyPr/>
          <a:lstStyle/>
          <a:p>
            <a:r>
              <a:rPr lang="en-IN" dirty="0"/>
              <a:t>Dept. of CSE, VVIET, Mysuru-28</a:t>
            </a:r>
          </a:p>
        </p:txBody>
      </p:sp>
      <p:sp>
        <p:nvSpPr>
          <p:cNvPr id="9" name="Slide Number Placeholder 8"/>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47A73B3-1344-4DCA-998F-ECD6FABDD2E7}" type="datetime1">
              <a:rPr lang="en-US" smtClean="0"/>
              <a:pPr/>
              <a:t>12/1/2025</a:t>
            </a:fld>
            <a:endParaRPr lang="en-IN" dirty="0"/>
          </a:p>
        </p:txBody>
      </p:sp>
      <p:sp>
        <p:nvSpPr>
          <p:cNvPr id="4" name="Footer Placeholder 3"/>
          <p:cNvSpPr>
            <a:spLocks noGrp="1"/>
          </p:cNvSpPr>
          <p:nvPr>
            <p:ph type="ftr" sz="quarter" idx="11"/>
          </p:nvPr>
        </p:nvSpPr>
        <p:spPr/>
        <p:txBody>
          <a:bodyPr/>
          <a:lstStyle/>
          <a:p>
            <a:r>
              <a:rPr lang="en-IN" dirty="0"/>
              <a:t>Dept. of CSE, VVIET, Mysuru-28</a:t>
            </a:r>
          </a:p>
        </p:txBody>
      </p:sp>
      <p:sp>
        <p:nvSpPr>
          <p:cNvPr id="5" name="Slide Number Placeholder 4"/>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872DFC-2A44-4AED-9855-F948AE69CE49}" type="datetime1">
              <a:rPr lang="en-US" smtClean="0"/>
              <a:pPr/>
              <a:t>12/1/2025</a:t>
            </a:fld>
            <a:endParaRPr lang="en-IN" dirty="0"/>
          </a:p>
        </p:txBody>
      </p:sp>
      <p:sp>
        <p:nvSpPr>
          <p:cNvPr id="3" name="Footer Placeholder 2"/>
          <p:cNvSpPr>
            <a:spLocks noGrp="1"/>
          </p:cNvSpPr>
          <p:nvPr>
            <p:ph type="ftr" sz="quarter" idx="11"/>
          </p:nvPr>
        </p:nvSpPr>
        <p:spPr/>
        <p:txBody>
          <a:bodyPr/>
          <a:lstStyle/>
          <a:p>
            <a:r>
              <a:rPr lang="en-IN" dirty="0"/>
              <a:t>Dept. of CSE, VVIET, Mysuru-28</a:t>
            </a:r>
          </a:p>
        </p:txBody>
      </p:sp>
      <p:sp>
        <p:nvSpPr>
          <p:cNvPr id="4" name="Slide Number Placeholder 3"/>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3437A3-BC66-403C-B599-A6AF4754E933}" type="datetime1">
              <a:rPr lang="en-US" smtClean="0"/>
              <a:pPr/>
              <a:t>12/1/2025</a:t>
            </a:fld>
            <a:endParaRPr lang="en-IN" dirty="0"/>
          </a:p>
        </p:txBody>
      </p:sp>
      <p:sp>
        <p:nvSpPr>
          <p:cNvPr id="6" name="Footer Placeholder 5"/>
          <p:cNvSpPr>
            <a:spLocks noGrp="1"/>
          </p:cNvSpPr>
          <p:nvPr>
            <p:ph type="ftr" sz="quarter" idx="11"/>
          </p:nvPr>
        </p:nvSpPr>
        <p:spPr/>
        <p:txBody>
          <a:bodyPr/>
          <a:lstStyle/>
          <a:p>
            <a:r>
              <a:rPr lang="en-IN" dirty="0"/>
              <a:t>Dept. of CSE, VVIET, Mysuru-28</a:t>
            </a:r>
          </a:p>
        </p:txBody>
      </p:sp>
      <p:sp>
        <p:nvSpPr>
          <p:cNvPr id="7" name="Slide Number Placeholder 6"/>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C8B001-80B3-49F4-A51C-673A7C5CFE11}" type="datetime1">
              <a:rPr lang="en-US" smtClean="0"/>
              <a:pPr/>
              <a:t>12/1/2025</a:t>
            </a:fld>
            <a:endParaRPr lang="en-IN" dirty="0"/>
          </a:p>
        </p:txBody>
      </p:sp>
      <p:sp>
        <p:nvSpPr>
          <p:cNvPr id="6" name="Footer Placeholder 5"/>
          <p:cNvSpPr>
            <a:spLocks noGrp="1"/>
          </p:cNvSpPr>
          <p:nvPr>
            <p:ph type="ftr" sz="quarter" idx="11"/>
          </p:nvPr>
        </p:nvSpPr>
        <p:spPr/>
        <p:txBody>
          <a:bodyPr/>
          <a:lstStyle/>
          <a:p>
            <a:r>
              <a:rPr lang="en-IN" dirty="0"/>
              <a:t>Dept. of CSE, VVIET, Mysuru-28</a:t>
            </a:r>
          </a:p>
        </p:txBody>
      </p:sp>
      <p:sp>
        <p:nvSpPr>
          <p:cNvPr id="7" name="Slide Number Placeholder 6"/>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76217F1-9B2E-4693-BC4F-18BD0802C6A9}" type="datetime1">
              <a:rPr lang="en-US" smtClean="0"/>
              <a:pPr/>
              <a:t>12/1/2025</a:t>
            </a:fld>
            <a:endParaRPr lang="en-IN" dirty="0"/>
          </a:p>
        </p:txBody>
      </p:sp>
      <p:sp>
        <p:nvSpPr>
          <p:cNvPr id="5" name="Footer Placeholder 4"/>
          <p:cNvSpPr>
            <a:spLocks noGrp="1"/>
          </p:cNvSpPr>
          <p:nvPr>
            <p:ph type="ftr" sz="quarter" idx="11"/>
          </p:nvPr>
        </p:nvSpPr>
        <p:spPr/>
        <p:txBody>
          <a:bodyPr/>
          <a:lstStyle/>
          <a:p>
            <a:r>
              <a:rPr lang="en-IN" dirty="0"/>
              <a:t>Dept. of CSE, VVIET, Mysuru-28</a:t>
            </a:r>
          </a:p>
        </p:txBody>
      </p:sp>
      <p:sp>
        <p:nvSpPr>
          <p:cNvPr id="6" name="Slide Number Placeholder 5"/>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AED84E2-E814-4B1B-B2E0-DA51BF8FDDD0}" type="datetime1">
              <a:rPr lang="en-US" smtClean="0"/>
              <a:pPr/>
              <a:t>12/1/2025</a:t>
            </a:fld>
            <a:endParaRPr lang="en-IN" dirty="0"/>
          </a:p>
        </p:txBody>
      </p:sp>
      <p:sp>
        <p:nvSpPr>
          <p:cNvPr id="5" name="Footer Placeholder 4"/>
          <p:cNvSpPr>
            <a:spLocks noGrp="1"/>
          </p:cNvSpPr>
          <p:nvPr>
            <p:ph type="ftr" sz="quarter" idx="11"/>
          </p:nvPr>
        </p:nvSpPr>
        <p:spPr/>
        <p:txBody>
          <a:bodyPr/>
          <a:lstStyle/>
          <a:p>
            <a:r>
              <a:rPr lang="en-IN" dirty="0"/>
              <a:t>Dept. of CSE, VVIET, Mysuru-28</a:t>
            </a:r>
          </a:p>
        </p:txBody>
      </p:sp>
      <p:sp>
        <p:nvSpPr>
          <p:cNvPr id="6" name="Slide Number Placeholder 5"/>
          <p:cNvSpPr>
            <a:spLocks noGrp="1"/>
          </p:cNvSpPr>
          <p:nvPr>
            <p:ph type="sldNum" sz="quarter" idx="12"/>
          </p:nvPr>
        </p:nvSpPr>
        <p:spPr/>
        <p:txBody>
          <a:bodyPr/>
          <a:lstStyle/>
          <a:p>
            <a:fld id="{F60AEBAE-898E-45EA-8968-F56BCCECE61B}"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F7C505-1E03-4C32-A85B-6DA44B78A1A9}" type="datetime1">
              <a:rPr lang="en-US" smtClean="0"/>
              <a:pPr/>
              <a:t>12/1/2025</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Dept. of CSE, VVIET, Mysuru-28</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0AEBAE-898E-45EA-8968-F56BCCECE61B}"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eg"/><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4" y="5191845"/>
            <a:ext cx="9144000" cy="1500222"/>
          </a:xfrm>
        </p:spPr>
        <p:txBody>
          <a:bodyPr>
            <a:normAutofit fontScale="77500" lnSpcReduction="20000"/>
          </a:bodyPr>
          <a:lstStyle/>
          <a:p>
            <a:r>
              <a:rPr lang="en-IN" sz="2800" dirty="0">
                <a:solidFill>
                  <a:srgbClr val="FF00FF"/>
                </a:solidFill>
                <a:latin typeface="Times New Roman" pitchFamily="18" charset="0"/>
                <a:cs typeface="Times New Roman" pitchFamily="18" charset="0"/>
              </a:rPr>
              <a:t>Department of Computer Science and Engineering</a:t>
            </a:r>
          </a:p>
          <a:p>
            <a:r>
              <a:rPr lang="en-IN" sz="3300" dirty="0">
                <a:solidFill>
                  <a:schemeClr val="tx1"/>
                </a:solidFill>
                <a:latin typeface="Times New Roman" pitchFamily="18" charset="0"/>
                <a:cs typeface="Times New Roman" pitchFamily="18" charset="0"/>
              </a:rPr>
              <a:t>Vidya Vikas Institute of Engineering and Technology </a:t>
            </a:r>
          </a:p>
          <a:p>
            <a:r>
              <a:rPr lang="en-IN" sz="2400" dirty="0">
                <a:solidFill>
                  <a:schemeClr val="tx1"/>
                </a:solidFill>
                <a:latin typeface="Times New Roman" pitchFamily="18" charset="0"/>
                <a:cs typeface="Times New Roman" pitchFamily="18" charset="0"/>
              </a:rPr>
              <a:t>Mysuru – 28</a:t>
            </a:r>
          </a:p>
          <a:p>
            <a:r>
              <a:rPr lang="en-IN" b="1">
                <a:solidFill>
                  <a:schemeClr val="tx1"/>
                </a:solidFill>
                <a:latin typeface="Times New Roman" pitchFamily="18" charset="0"/>
                <a:cs typeface="Times New Roman" pitchFamily="18" charset="0"/>
              </a:rPr>
              <a:t>2025-26</a:t>
            </a:r>
            <a:endParaRPr lang="en-IN" b="1" dirty="0">
              <a:solidFill>
                <a:schemeClr val="tx1"/>
              </a:solidFill>
              <a:latin typeface="Times New Roman" pitchFamily="18" charset="0"/>
              <a:cs typeface="Times New Roman" pitchFamily="18" charset="0"/>
            </a:endParaRPr>
          </a:p>
        </p:txBody>
      </p:sp>
      <p:sp>
        <p:nvSpPr>
          <p:cNvPr id="9" name="Title 1"/>
          <p:cNvSpPr txBox="1">
            <a:spLocks/>
          </p:cNvSpPr>
          <p:nvPr/>
        </p:nvSpPr>
        <p:spPr>
          <a:xfrm>
            <a:off x="-160335" y="1123636"/>
            <a:ext cx="9144000" cy="1165898"/>
          </a:xfrm>
          <a:prstGeom prst="rect">
            <a:avLst/>
          </a:prstGeom>
        </p:spPr>
        <p:txBody>
          <a:bodyPr vert="horz" lIns="91440" tIns="45720" rIns="91440" bIns="45720" rtlCol="0" anchor="ctr">
            <a:normAutofit fontScale="92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2000" i="0" u="none" strike="noStrike" kern="1200" cap="none" spc="0" normalizeH="0" noProof="0" dirty="0">
                <a:ln>
                  <a:noFill/>
                </a:ln>
                <a:solidFill>
                  <a:schemeClr val="tx1"/>
                </a:solidFill>
                <a:effectLst/>
                <a:uLnTx/>
                <a:uFillTx/>
                <a:latin typeface="Times New Roman" pitchFamily="18" charset="0"/>
                <a:ea typeface="+mj-ea"/>
                <a:cs typeface="Times New Roman" pitchFamily="18" charset="0"/>
              </a:rPr>
              <a:t> Project </a:t>
            </a:r>
            <a:r>
              <a:rPr lang="en-IN" sz="2000" dirty="0">
                <a:latin typeface="Times New Roman" pitchFamily="18" charset="0"/>
                <a:ea typeface="+mj-ea"/>
                <a:cs typeface="Times New Roman" pitchFamily="18" charset="0"/>
              </a:rPr>
              <a:t>Titled </a:t>
            </a:r>
            <a:endParaRPr kumimoji="0" lang="en-IN" sz="2000" i="0" u="none" strike="noStrike" kern="1200" cap="none" spc="0" normalizeH="0" noProof="0" dirty="0">
              <a:ln>
                <a:noFill/>
              </a:ln>
              <a:solidFill>
                <a:schemeClr val="tx1"/>
              </a:solidFill>
              <a:effectLst/>
              <a:uLnTx/>
              <a:uFillTx/>
              <a:latin typeface="Times New Roman" pitchFamily="18" charset="0"/>
              <a:ea typeface="+mj-ea"/>
              <a:cs typeface="Times New Roman" pitchFamily="18" charset="0"/>
            </a:endParaRPr>
          </a:p>
          <a:p>
            <a:pPr lvl="0" algn="ctr">
              <a:spcBef>
                <a:spcPct val="0"/>
              </a:spcBef>
              <a:defRPr/>
            </a:pPr>
            <a:r>
              <a:rPr kumimoji="0" lang="en-IN" sz="3000" i="0" u="none" strike="noStrike" kern="1200" cap="none" spc="0" normalizeH="0" noProof="0" dirty="0">
                <a:ln>
                  <a:noFill/>
                </a:ln>
                <a:solidFill>
                  <a:schemeClr val="accent5">
                    <a:lumMod val="50000"/>
                  </a:schemeClr>
                </a:solidFill>
                <a:effectLst/>
                <a:uLnTx/>
                <a:uFillTx/>
                <a:latin typeface="Times New Roman" pitchFamily="18" charset="0"/>
                <a:ea typeface="+mj-ea"/>
                <a:cs typeface="Times New Roman" pitchFamily="18" charset="0"/>
              </a:rPr>
              <a:t>“</a:t>
            </a:r>
            <a:r>
              <a:rPr lang="en-US" sz="3000" dirty="0">
                <a:solidFill>
                  <a:schemeClr val="accent5">
                    <a:lumMod val="50000"/>
                  </a:schemeClr>
                </a:solidFill>
                <a:latin typeface="Times New Roman" pitchFamily="18" charset="0"/>
                <a:ea typeface="+mj-ea"/>
                <a:cs typeface="Times New Roman" pitchFamily="18" charset="0"/>
              </a:rPr>
              <a:t>Smart Sericulture: Automated Disease Diagnosis in Silkworms Using CNN</a:t>
            </a:r>
            <a:r>
              <a:rPr kumimoji="0" lang="en-IN" sz="3000" i="0" u="none" strike="noStrike" kern="1200" cap="none" spc="0" normalizeH="0" noProof="0" dirty="0">
                <a:ln>
                  <a:noFill/>
                </a:ln>
                <a:solidFill>
                  <a:schemeClr val="accent5">
                    <a:lumMod val="50000"/>
                  </a:schemeClr>
                </a:solidFill>
                <a:effectLst/>
                <a:uLnTx/>
                <a:uFillTx/>
                <a:latin typeface="Times New Roman" pitchFamily="18" charset="0"/>
                <a:ea typeface="+mj-ea"/>
                <a:cs typeface="Times New Roman" pitchFamily="18" charset="0"/>
              </a:rPr>
              <a:t>”</a:t>
            </a:r>
          </a:p>
        </p:txBody>
      </p:sp>
      <p:sp>
        <p:nvSpPr>
          <p:cNvPr id="4" name="TextBox 3">
            <a:extLst>
              <a:ext uri="{FF2B5EF4-FFF2-40B4-BE49-F238E27FC236}">
                <a16:creationId xmlns:a16="http://schemas.microsoft.com/office/drawing/2014/main" id="{92231BD1-3760-652F-23E3-11A9D4B4FE93}"/>
              </a:ext>
            </a:extLst>
          </p:cNvPr>
          <p:cNvSpPr txBox="1"/>
          <p:nvPr/>
        </p:nvSpPr>
        <p:spPr>
          <a:xfrm>
            <a:off x="2286000" y="2386472"/>
            <a:ext cx="4276541" cy="1354217"/>
          </a:xfrm>
          <a:prstGeom prst="rect">
            <a:avLst/>
          </a:prstGeom>
          <a:noFill/>
        </p:spPr>
        <p:txBody>
          <a:bodyPr wrap="square" rtlCol="0">
            <a:spAutoFit/>
          </a:bodyPr>
          <a:lstStyle/>
          <a:p>
            <a:r>
              <a:rPr lang="en-US" dirty="0"/>
              <a:t>                     </a:t>
            </a:r>
            <a:r>
              <a:rPr lang="en-US" b="1" dirty="0">
                <a:latin typeface="Times New Roman" panose="02020603050405020304" pitchFamily="18" charset="0"/>
                <a:cs typeface="Times New Roman" panose="02020603050405020304" pitchFamily="18" charset="0"/>
              </a:rPr>
              <a:t>Team Members</a:t>
            </a:r>
          </a:p>
          <a:p>
            <a:pPr algn="just"/>
            <a:r>
              <a:rPr lang="en-US" sz="1600" dirty="0">
                <a:latin typeface="Times New Roman" panose="02020603050405020304" pitchFamily="18" charset="0"/>
                <a:cs typeface="Times New Roman" panose="02020603050405020304" pitchFamily="18" charset="0"/>
              </a:rPr>
              <a:t>HARSHITHA N                     4VM22CS013       </a:t>
            </a:r>
          </a:p>
          <a:p>
            <a:pPr algn="just"/>
            <a:r>
              <a:rPr lang="en-US" sz="1600" dirty="0">
                <a:latin typeface="Times New Roman" panose="02020603050405020304" pitchFamily="18" charset="0"/>
                <a:cs typeface="Times New Roman" panose="02020603050405020304" pitchFamily="18" charset="0"/>
              </a:rPr>
              <a:t>KEERTHANA K T                 4VM22CS014</a:t>
            </a:r>
          </a:p>
          <a:p>
            <a:pPr algn="just"/>
            <a:r>
              <a:rPr lang="en-US" sz="1600" dirty="0">
                <a:latin typeface="Times New Roman" panose="02020603050405020304" pitchFamily="18" charset="0"/>
                <a:cs typeface="Times New Roman" panose="02020603050405020304" pitchFamily="18" charset="0"/>
              </a:rPr>
              <a:t>ARUNA  P                              4VM23CS402</a:t>
            </a:r>
          </a:p>
          <a:p>
            <a:pPr algn="just"/>
            <a:r>
              <a:rPr lang="en-US" sz="1600" dirty="0">
                <a:latin typeface="Times New Roman" panose="02020603050405020304" pitchFamily="18" charset="0"/>
                <a:cs typeface="Times New Roman" panose="02020603050405020304" pitchFamily="18" charset="0"/>
              </a:rPr>
              <a:t>SINCHANA Y M                    4VM23CS412</a:t>
            </a:r>
          </a:p>
        </p:txBody>
      </p:sp>
      <p:pic>
        <p:nvPicPr>
          <p:cNvPr id="1026" name="Picture 3">
            <a:extLst>
              <a:ext uri="{FF2B5EF4-FFF2-40B4-BE49-F238E27FC236}">
                <a16:creationId xmlns:a16="http://schemas.microsoft.com/office/drawing/2014/main" id="{839C2DB9-1B4B-9710-6F01-F45B07F086E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8449" y="142852"/>
            <a:ext cx="625216" cy="7236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
            <a:extLst>
              <a:ext uri="{FF2B5EF4-FFF2-40B4-BE49-F238E27FC236}">
                <a16:creationId xmlns:a16="http://schemas.microsoft.com/office/drawing/2014/main" id="{FA4FC038-E83F-DF7F-8B08-1928F8756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a:extLst>
              <a:ext uri="{FF2B5EF4-FFF2-40B4-BE49-F238E27FC236}">
                <a16:creationId xmlns:a16="http://schemas.microsoft.com/office/drawing/2014/main" id="{2EFED9F5-80B1-CA69-62E0-4BA6665F110D}"/>
              </a:ext>
            </a:extLst>
          </p:cNvPr>
          <p:cNvSpPr>
            <a:spLocks noChangeArrowheads="1"/>
          </p:cNvSpPr>
          <p:nvPr/>
        </p:nvSpPr>
        <p:spPr bwMode="auto">
          <a:xfrm>
            <a:off x="1030798" y="255570"/>
            <a:ext cx="69395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Vidya Vikas Institute of Engineering and Technology, Mysuru</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0" name="Title 1"/>
          <p:cNvSpPr txBox="1">
            <a:spLocks/>
          </p:cNvSpPr>
          <p:nvPr/>
        </p:nvSpPr>
        <p:spPr>
          <a:xfrm>
            <a:off x="2811465" y="3498942"/>
            <a:ext cx="3200399" cy="2049436"/>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b="1" i="0" u="sng" strike="noStrike" kern="1200" cap="none" spc="0" normalizeH="0" noProof="0" dirty="0">
                <a:ln>
                  <a:noFill/>
                </a:ln>
                <a:solidFill>
                  <a:srgbClr val="C00000"/>
                </a:solidFill>
                <a:effectLst/>
                <a:uLnTx/>
                <a:uFillTx/>
                <a:latin typeface="Times New Roman" pitchFamily="18" charset="0"/>
                <a:ea typeface="+mj-ea"/>
                <a:cs typeface="Times New Roman" pitchFamily="18" charset="0"/>
              </a:rPr>
              <a:t>Under the Guidance</a:t>
            </a:r>
            <a:endParaRPr lang="en-IN" b="1" dirty="0">
              <a:latin typeface="Times New Roman" pitchFamily="18" charset="0"/>
              <a:ea typeface="+mj-ea"/>
              <a:cs typeface="Times New Roman" pitchFamily="18" charset="0"/>
            </a:endParaRPr>
          </a:p>
          <a:p>
            <a:pPr lvl="0" algn="ctr">
              <a:spcBef>
                <a:spcPct val="0"/>
              </a:spcBef>
              <a:defRPr/>
            </a:pPr>
            <a:r>
              <a:rPr lang="en-IN" dirty="0">
                <a:latin typeface="Times New Roman" pitchFamily="18" charset="0"/>
                <a:ea typeface="+mj-ea"/>
                <a:cs typeface="Times New Roman" pitchFamily="18" charset="0"/>
              </a:rPr>
              <a:t>Deepu G</a:t>
            </a:r>
          </a:p>
          <a:p>
            <a:pPr lvl="0" algn="ctr">
              <a:spcBef>
                <a:spcPct val="0"/>
              </a:spcBef>
              <a:defRPr/>
            </a:pPr>
            <a:r>
              <a:rPr lang="en-IN" dirty="0">
                <a:latin typeface="Times New Roman" pitchFamily="18" charset="0"/>
                <a:cs typeface="Times New Roman" pitchFamily="18" charset="0"/>
              </a:rPr>
              <a:t>Assistant Prof</a:t>
            </a:r>
            <a:endParaRPr lang="en-IN" dirty="0">
              <a:latin typeface="Times New Roman" pitchFamily="18" charset="0"/>
              <a:ea typeface="+mj-ea"/>
              <a:cs typeface="Times New Roman" pitchFamily="18" charset="0"/>
            </a:endParaRPr>
          </a:p>
          <a:p>
            <a:pPr lvl="0" algn="ctr">
              <a:spcBef>
                <a:spcPct val="0"/>
              </a:spcBef>
              <a:defRPr/>
            </a:pPr>
            <a:r>
              <a:rPr lang="en-IN" dirty="0">
                <a:latin typeface="Times New Roman" pitchFamily="18" charset="0"/>
                <a:ea typeface="+mj-ea"/>
                <a:cs typeface="Times New Roman" pitchFamily="18" charset="0"/>
              </a:rPr>
              <a:t>Dept of CSE, VVIET</a:t>
            </a:r>
          </a:p>
          <a:p>
            <a:pPr marL="0" marR="0" lvl="0" indent="0" algn="ctr" defTabSz="914400" rtl="0" eaLnBrk="1" fontAlgn="auto" latinLnBrk="0" hangingPunct="1">
              <a:lnSpc>
                <a:spcPct val="100000"/>
              </a:lnSpc>
              <a:spcBef>
                <a:spcPct val="0"/>
              </a:spcBef>
              <a:spcAft>
                <a:spcPts val="0"/>
              </a:spcAft>
              <a:buClrTx/>
              <a:buSzTx/>
              <a:buFontTx/>
              <a:buNone/>
              <a:tabLst/>
              <a:defRPr/>
            </a:pPr>
            <a:endParaRPr lang="en-IN" dirty="0">
              <a:latin typeface="Times New Roman" pitchFamily="18" charset="0"/>
              <a:ea typeface="+mj-ea"/>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latin typeface="Times New Roman" pitchFamily="18" charset="0"/>
                <a:cs typeface="Times New Roman" pitchFamily="18" charset="0"/>
              </a:rPr>
              <a:t>Contents</a:t>
            </a:r>
          </a:p>
        </p:txBody>
      </p:sp>
      <p:sp>
        <p:nvSpPr>
          <p:cNvPr id="3" name="Content Placeholder 2"/>
          <p:cNvSpPr>
            <a:spLocks noGrp="1"/>
          </p:cNvSpPr>
          <p:nvPr>
            <p:ph idx="1"/>
          </p:nvPr>
        </p:nvSpPr>
        <p:spPr>
          <a:xfrm>
            <a:off x="428596" y="1285860"/>
            <a:ext cx="8229600" cy="4929222"/>
          </a:xfrm>
        </p:spPr>
        <p:txBody>
          <a:bodyPr>
            <a:normAutofit/>
          </a:bodyPr>
          <a:lstStyle/>
          <a:p>
            <a:pPr marL="358775" indent="0">
              <a:buNone/>
            </a:pPr>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Introduction                                                </a:t>
            </a:r>
          </a:p>
          <a:p>
            <a:r>
              <a:rPr lang="en-IN" sz="2400" dirty="0">
                <a:latin typeface="Times New Roman" pitchFamily="18" charset="0"/>
                <a:cs typeface="Times New Roman" pitchFamily="18" charset="0"/>
              </a:rPr>
              <a:t>Literature survey</a:t>
            </a:r>
          </a:p>
          <a:p>
            <a:r>
              <a:rPr lang="en-IN" sz="2400" dirty="0">
                <a:latin typeface="Times New Roman" pitchFamily="18" charset="0"/>
                <a:cs typeface="Times New Roman" pitchFamily="18" charset="0"/>
              </a:rPr>
              <a:t>Problem statement</a:t>
            </a:r>
          </a:p>
          <a:p>
            <a:r>
              <a:rPr lang="en-IN" sz="2400" dirty="0">
                <a:latin typeface="Times New Roman" pitchFamily="18" charset="0"/>
                <a:cs typeface="Times New Roman" pitchFamily="18" charset="0"/>
              </a:rPr>
              <a:t>Objectives</a:t>
            </a:r>
          </a:p>
          <a:p>
            <a:r>
              <a:rPr lang="en-IN" sz="2400" dirty="0">
                <a:latin typeface="Times New Roman" pitchFamily="18" charset="0"/>
                <a:cs typeface="Times New Roman" pitchFamily="18" charset="0"/>
              </a:rPr>
              <a:t>Hardware and Software requirements</a:t>
            </a:r>
          </a:p>
          <a:p>
            <a:r>
              <a:rPr lang="en-IN" sz="2400" dirty="0">
                <a:latin typeface="Times New Roman" pitchFamily="18" charset="0"/>
                <a:cs typeface="Times New Roman" pitchFamily="18" charset="0"/>
              </a:rPr>
              <a:t>Methodology </a:t>
            </a:r>
          </a:p>
          <a:p>
            <a:r>
              <a:rPr lang="en-IN" sz="2400" dirty="0">
                <a:latin typeface="Times New Roman" pitchFamily="18" charset="0"/>
                <a:cs typeface="Times New Roman" pitchFamily="18" charset="0"/>
              </a:rPr>
              <a:t>Flowchart</a:t>
            </a:r>
          </a:p>
          <a:p>
            <a:r>
              <a:rPr lang="en-IN" sz="2400" dirty="0">
                <a:latin typeface="Times New Roman" pitchFamily="18" charset="0"/>
                <a:cs typeface="Times New Roman" pitchFamily="18" charset="0"/>
              </a:rPr>
              <a:t>Results</a:t>
            </a:r>
          </a:p>
          <a:p>
            <a:r>
              <a:rPr lang="en-IN" sz="2400" dirty="0">
                <a:latin typeface="Times New Roman" pitchFamily="18" charset="0"/>
                <a:cs typeface="Times New Roman" pitchFamily="18" charset="0"/>
              </a:rPr>
              <a:t>References</a:t>
            </a:r>
          </a:p>
          <a:p>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F60AEBAE-898E-45EA-8968-F56BCCECE61B}" type="slidenum">
              <a:rPr lang="en-IN" smtClean="0"/>
              <a:pPr/>
              <a:t>2</a:t>
            </a:fld>
            <a:endParaRPr lang="en-IN" dirty="0"/>
          </a:p>
        </p:txBody>
      </p:sp>
      <p:sp>
        <p:nvSpPr>
          <p:cNvPr id="5" name="Footer Placeholder 4"/>
          <p:cNvSpPr>
            <a:spLocks noGrp="1"/>
          </p:cNvSpPr>
          <p:nvPr>
            <p:ph type="ftr" sz="quarter" idx="11"/>
          </p:nvPr>
        </p:nvSpPr>
        <p:spPr/>
        <p:txBody>
          <a:bodyPr/>
          <a:lstStyle/>
          <a:p>
            <a:r>
              <a:rPr lang="en-IN" dirty="0"/>
              <a:t>Dept. of CSE, VVIET, Mysuru-28</a:t>
            </a:r>
          </a:p>
        </p:txBody>
      </p:sp>
      <p:pic>
        <p:nvPicPr>
          <p:cNvPr id="6" name="Picture 5" descr="E:\Shiva\VTU-logo.png"/>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60884A5B-5ADF-EDD4-2EEC-2D3CF8400C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2533"/>
            <a:ext cx="8229600" cy="1143000"/>
          </a:xfrm>
        </p:spPr>
        <p:txBody>
          <a:bodyPr>
            <a:normAutofit/>
          </a:bodyPr>
          <a:lstStyle/>
          <a:p>
            <a:r>
              <a:rPr lang="en-IN" sz="3200" dirty="0">
                <a:solidFill>
                  <a:srgbClr val="C00000"/>
                </a:solidFill>
                <a:latin typeface="Times New Roman" pitchFamily="18" charset="0"/>
                <a:cs typeface="Times New Roman" pitchFamily="18" charset="0"/>
              </a:rPr>
              <a:t>Introduction</a:t>
            </a:r>
            <a:endParaRPr lang="en-IN" sz="3200" dirty="0">
              <a:solidFill>
                <a:srgbClr val="C00000"/>
              </a:solidFill>
            </a:endParaRPr>
          </a:p>
        </p:txBody>
      </p:sp>
      <p:sp>
        <p:nvSpPr>
          <p:cNvPr id="3" name="Content Placeholder 2"/>
          <p:cNvSpPr>
            <a:spLocks noGrp="1"/>
          </p:cNvSpPr>
          <p:nvPr>
            <p:ph idx="1"/>
          </p:nvPr>
        </p:nvSpPr>
        <p:spPr>
          <a:xfrm>
            <a:off x="457200" y="1052736"/>
            <a:ext cx="8229600" cy="5112568"/>
          </a:xfrm>
        </p:spPr>
        <p:txBody>
          <a:bodyPr>
            <a:normAutofit/>
          </a:bodyPr>
          <a:lstStyle/>
          <a:p>
            <a:pPr marL="0" indent="0" algn="just">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latin typeface="Times New Roman" pitchFamily="18" charset="0"/>
              <a:cs typeface="Times New Roman" pitchFamily="18" charset="0"/>
            </a:endParaRPr>
          </a:p>
          <a:p>
            <a:pPr marL="0" indent="0" algn="just">
              <a:lnSpc>
                <a:spcPct val="150000"/>
              </a:lnSpc>
              <a:buNone/>
            </a:pPr>
            <a:r>
              <a:rPr lang="en-US" sz="2000" dirty="0">
                <a:latin typeface="Times New Roman" pitchFamily="18" charset="0"/>
                <a:cs typeface="Times New Roman" pitchFamily="18" charset="0"/>
              </a:rPr>
              <a:t>Silkworm disease detection using CNNs is an AI-based method that identifies diseases like Grasserie and Pebrine from images of infected silkworms. It replaces manual inspection with automated, accurate, and fast detection by learning visual features through deep learning. This approach helps farmers take timely action and improve silk production efficiency.</a:t>
            </a:r>
            <a:endParaRPr lang="en-IN"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F60AEBAE-898E-45EA-8968-F56BCCECE61B}" type="slidenum">
              <a:rPr lang="en-IN" smtClean="0"/>
              <a:pPr/>
              <a:t>3</a:t>
            </a:fld>
            <a:endParaRPr lang="en-IN" dirty="0"/>
          </a:p>
        </p:txBody>
      </p:sp>
      <p:sp>
        <p:nvSpPr>
          <p:cNvPr id="5" name="Footer Placeholder 4"/>
          <p:cNvSpPr>
            <a:spLocks noGrp="1"/>
          </p:cNvSpPr>
          <p:nvPr>
            <p:ph type="ftr" sz="quarter" idx="11"/>
          </p:nvPr>
        </p:nvSpPr>
        <p:spPr/>
        <p:txBody>
          <a:bodyPr/>
          <a:lstStyle/>
          <a:p>
            <a:r>
              <a:rPr lang="en-IN" dirty="0"/>
              <a:t>Dept. of CSE, VVIET, Mysuru-28</a:t>
            </a:r>
          </a:p>
        </p:txBody>
      </p:sp>
      <p:pic>
        <p:nvPicPr>
          <p:cNvPr id="6" name="Picture 5" descr="E:\Shiva\VTU-logo.png"/>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B5E68C68-8917-C9CA-0661-664D4E195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11685-3D21-23B8-2787-88C32B1C1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F9B86-A441-7FD9-72F2-2162913BFA3F}"/>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Literature survey</a:t>
            </a:r>
            <a:br>
              <a:rPr lang="en-IN" sz="3200" dirty="0">
                <a:latin typeface="Times New Roman" pitchFamily="18" charset="0"/>
                <a:cs typeface="Times New Roman" pitchFamily="18" charset="0"/>
              </a:rPr>
            </a:br>
            <a:endParaRPr lang="en-IN" sz="3200" dirty="0">
              <a:solidFill>
                <a:srgbClr val="C00000"/>
              </a:solidFill>
            </a:endParaRPr>
          </a:p>
        </p:txBody>
      </p:sp>
      <p:sp>
        <p:nvSpPr>
          <p:cNvPr id="3" name="Content Placeholder 2">
            <a:extLst>
              <a:ext uri="{FF2B5EF4-FFF2-40B4-BE49-F238E27FC236}">
                <a16:creationId xmlns:a16="http://schemas.microsoft.com/office/drawing/2014/main" id="{5F5CBA21-A911-6EA3-1DEA-BC4E5BBD705B}"/>
              </a:ext>
            </a:extLst>
          </p:cNvPr>
          <p:cNvSpPr>
            <a:spLocks noGrp="1"/>
          </p:cNvSpPr>
          <p:nvPr>
            <p:ph idx="1"/>
          </p:nvPr>
        </p:nvSpPr>
        <p:spPr>
          <a:xfrm>
            <a:off x="2133600" y="-609600"/>
            <a:ext cx="8229600" cy="5112568"/>
          </a:xfrm>
        </p:spPr>
        <p:txBody>
          <a:bodyPr>
            <a:normAutofit/>
          </a:bodyPr>
          <a:lstStyle/>
          <a:p>
            <a:pPr marL="0" indent="0">
              <a:lnSpc>
                <a:spcPct val="170000"/>
              </a:lnSpc>
              <a:buNone/>
            </a:pPr>
            <a:r>
              <a:rPr lang="en-IN" sz="5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3BF39112-5E34-CEE7-0A33-6CD6CAFAB0B8}"/>
              </a:ext>
            </a:extLst>
          </p:cNvPr>
          <p:cNvSpPr>
            <a:spLocks noGrp="1"/>
          </p:cNvSpPr>
          <p:nvPr>
            <p:ph type="sldNum" sz="quarter" idx="12"/>
          </p:nvPr>
        </p:nvSpPr>
        <p:spPr/>
        <p:txBody>
          <a:bodyPr/>
          <a:lstStyle/>
          <a:p>
            <a:fld id="{F60AEBAE-898E-45EA-8968-F56BCCECE61B}" type="slidenum">
              <a:rPr lang="en-IN" smtClean="0"/>
              <a:pPr/>
              <a:t>4</a:t>
            </a:fld>
            <a:endParaRPr lang="en-IN" dirty="0"/>
          </a:p>
        </p:txBody>
      </p:sp>
      <p:sp>
        <p:nvSpPr>
          <p:cNvPr id="5" name="Footer Placeholder 4">
            <a:extLst>
              <a:ext uri="{FF2B5EF4-FFF2-40B4-BE49-F238E27FC236}">
                <a16:creationId xmlns:a16="http://schemas.microsoft.com/office/drawing/2014/main" id="{83DEF18C-EDCF-E569-6472-139D5FCD7F7D}"/>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102F21F2-FBAE-4FEA-40A5-39D2281F472F}"/>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8" name="Picture 1">
            <a:extLst>
              <a:ext uri="{FF2B5EF4-FFF2-40B4-BE49-F238E27FC236}">
                <a16:creationId xmlns:a16="http://schemas.microsoft.com/office/drawing/2014/main" id="{95CFD3CE-CA21-4ADC-52F6-69D0215220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2DB5EAB0-26D6-99FD-006B-A2BAEAE026A2}"/>
              </a:ext>
            </a:extLst>
          </p:cNvPr>
          <p:cNvGraphicFramePr>
            <a:graphicFrameLocks noGrp="1"/>
          </p:cNvGraphicFramePr>
          <p:nvPr>
            <p:extLst>
              <p:ext uri="{D42A27DB-BD31-4B8C-83A1-F6EECF244321}">
                <p14:modId xmlns:p14="http://schemas.microsoft.com/office/powerpoint/2010/main" val="2901913626"/>
              </p:ext>
            </p:extLst>
          </p:nvPr>
        </p:nvGraphicFramePr>
        <p:xfrm>
          <a:off x="399757" y="794055"/>
          <a:ext cx="8344485" cy="5882723"/>
        </p:xfrm>
        <a:graphic>
          <a:graphicData uri="http://schemas.openxmlformats.org/drawingml/2006/table">
            <a:tbl>
              <a:tblPr firstRow="1" bandRow="1">
                <a:tableStyleId>{5940675A-B579-460E-94D1-54222C63F5DA}</a:tableStyleId>
              </a:tblPr>
              <a:tblGrid>
                <a:gridCol w="971843">
                  <a:extLst>
                    <a:ext uri="{9D8B030D-6E8A-4147-A177-3AD203B41FA5}">
                      <a16:colId xmlns:a16="http://schemas.microsoft.com/office/drawing/2014/main" val="4163735657"/>
                    </a:ext>
                  </a:extLst>
                </a:gridCol>
                <a:gridCol w="2130148">
                  <a:extLst>
                    <a:ext uri="{9D8B030D-6E8A-4147-A177-3AD203B41FA5}">
                      <a16:colId xmlns:a16="http://schemas.microsoft.com/office/drawing/2014/main" val="3994780946"/>
                    </a:ext>
                  </a:extLst>
                </a:gridCol>
                <a:gridCol w="1527452">
                  <a:extLst>
                    <a:ext uri="{9D8B030D-6E8A-4147-A177-3AD203B41FA5}">
                      <a16:colId xmlns:a16="http://schemas.microsoft.com/office/drawing/2014/main" val="2926685328"/>
                    </a:ext>
                  </a:extLst>
                </a:gridCol>
                <a:gridCol w="838200">
                  <a:extLst>
                    <a:ext uri="{9D8B030D-6E8A-4147-A177-3AD203B41FA5}">
                      <a16:colId xmlns:a16="http://schemas.microsoft.com/office/drawing/2014/main" val="1780988996"/>
                    </a:ext>
                  </a:extLst>
                </a:gridCol>
                <a:gridCol w="2876842">
                  <a:extLst>
                    <a:ext uri="{9D8B030D-6E8A-4147-A177-3AD203B41FA5}">
                      <a16:colId xmlns:a16="http://schemas.microsoft.com/office/drawing/2014/main" val="4212128300"/>
                    </a:ext>
                  </a:extLst>
                </a:gridCol>
              </a:tblGrid>
              <a:tr h="680341">
                <a:tc>
                  <a:txBody>
                    <a:bodyPr/>
                    <a:lstStyle/>
                    <a:p>
                      <a:r>
                        <a:rPr lang="en-IN" b="1" dirty="0">
                          <a:latin typeface="Times New Roman" panose="02020603050405020304" pitchFamily="18" charset="0"/>
                          <a:cs typeface="Times New Roman" panose="02020603050405020304" pitchFamily="18" charset="0"/>
                        </a:rPr>
                        <a:t>SL NO</a:t>
                      </a:r>
                    </a:p>
                  </a:txBody>
                  <a:tcPr/>
                </a:tc>
                <a:tc>
                  <a:txBody>
                    <a:bodyPr/>
                    <a:lstStyle/>
                    <a:p>
                      <a:r>
                        <a:rPr lang="en-IN" b="1" dirty="0">
                          <a:latin typeface="Times New Roman" panose="02020603050405020304" pitchFamily="18" charset="0"/>
                          <a:cs typeface="Times New Roman" panose="02020603050405020304" pitchFamily="18" charset="0"/>
                        </a:rPr>
                        <a:t>Title of the paper</a:t>
                      </a:r>
                    </a:p>
                  </a:txBody>
                  <a:tcPr/>
                </a:tc>
                <a:tc>
                  <a:txBody>
                    <a:bodyPr/>
                    <a:lstStyle/>
                    <a:p>
                      <a:r>
                        <a:rPr lang="en-IN" b="1" dirty="0">
                          <a:latin typeface="Times New Roman" panose="02020603050405020304" pitchFamily="18" charset="0"/>
                          <a:cs typeface="Times New Roman" panose="02020603050405020304" pitchFamily="18" charset="0"/>
                        </a:rPr>
                        <a:t>Author Name</a:t>
                      </a:r>
                    </a:p>
                  </a:txBody>
                  <a:tcPr/>
                </a:tc>
                <a:tc>
                  <a:txBody>
                    <a:bodyPr/>
                    <a:lstStyle/>
                    <a:p>
                      <a:r>
                        <a:rPr lang="en-IN" b="1" dirty="0">
                          <a:latin typeface="Times New Roman" panose="02020603050405020304" pitchFamily="18" charset="0"/>
                          <a:cs typeface="Times New Roman" panose="02020603050405020304" pitchFamily="18" charset="0"/>
                        </a:rPr>
                        <a:t>Year of publishing</a:t>
                      </a:r>
                    </a:p>
                  </a:txBody>
                  <a:tcPr/>
                </a:tc>
                <a:tc>
                  <a:txBody>
                    <a:bodyPr/>
                    <a:lstStyle/>
                    <a:p>
                      <a:r>
                        <a:rPr lang="en-IN" b="1"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val="2759285270"/>
                  </a:ext>
                </a:extLst>
              </a:tr>
              <a:tr h="1339545">
                <a:tc>
                  <a:txBody>
                    <a:bodyPr/>
                    <a:lstStyle/>
                    <a:p>
                      <a:r>
                        <a:rPr lang="en-IN" dirty="0">
                          <a:latin typeface="Times New Roman" panose="02020603050405020304" pitchFamily="18" charset="0"/>
                          <a:cs typeface="Times New Roman" panose="02020603050405020304" pitchFamily="18" charset="0"/>
                        </a:rPr>
                        <a:t>1</a:t>
                      </a:r>
                    </a:p>
                  </a:txBody>
                  <a:tcPr/>
                </a:tc>
                <a:tc>
                  <a:txBody>
                    <a:bodyPr/>
                    <a:lstStyle/>
                    <a:p>
                      <a:r>
                        <a:rPr lang="en-US" sz="1600" dirty="0">
                          <a:latin typeface="Times New Roman" panose="02020603050405020304" pitchFamily="18" charset="0"/>
                          <a:cs typeface="Times New Roman" panose="02020603050405020304" pitchFamily="18" charset="0"/>
                        </a:rPr>
                        <a:t>A Novel Approach For Silkworm Disease Detection And Classification By Using CNN And Image Processing Techniques </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Shilpa B </a:t>
                      </a:r>
                      <a:r>
                        <a:rPr lang="en-IN" sz="1600" dirty="0" err="1">
                          <a:latin typeface="Times New Roman" panose="02020603050405020304" pitchFamily="18" charset="0"/>
                          <a:cs typeface="Times New Roman" panose="02020603050405020304" pitchFamily="18" charset="0"/>
                        </a:rPr>
                        <a:t>Kodli</a:t>
                      </a:r>
                      <a:r>
                        <a:rPr lang="en-IN" sz="1600" dirty="0">
                          <a:latin typeface="Times New Roman" panose="02020603050405020304" pitchFamily="18" charset="0"/>
                          <a:cs typeface="Times New Roman" panose="02020603050405020304" pitchFamily="18" charset="0"/>
                        </a:rPr>
                        <a:t>, </a:t>
                      </a:r>
                    </a:p>
                    <a:p>
                      <a:pPr algn="just"/>
                      <a:r>
                        <a:rPr lang="en-IN" sz="1600" dirty="0">
                          <a:latin typeface="Times New Roman" panose="02020603050405020304" pitchFamily="18" charset="0"/>
                          <a:cs typeface="Times New Roman" panose="02020603050405020304" pitchFamily="18" charset="0"/>
                        </a:rPr>
                        <a:t>Anita </a:t>
                      </a:r>
                    </a:p>
                  </a:txBody>
                  <a:tcPr/>
                </a:tc>
                <a:tc>
                  <a:txBody>
                    <a:bodyPr/>
                    <a:lstStyle/>
                    <a:p>
                      <a:r>
                        <a:rPr lang="en-IN" sz="1600" dirty="0">
                          <a:latin typeface="Times New Roman" panose="02020603050405020304" pitchFamily="18" charset="0"/>
                          <a:cs typeface="Times New Roman" panose="02020603050405020304" pitchFamily="18" charset="0"/>
                        </a:rPr>
                        <a:t>2025</a:t>
                      </a:r>
                    </a:p>
                  </a:txBody>
                  <a:tcPr/>
                </a:tc>
                <a:tc>
                  <a:txBody>
                    <a:bodyPr/>
                    <a:lstStyle/>
                    <a:p>
                      <a:r>
                        <a:rPr lang="en-US" sz="1600" dirty="0">
                          <a:latin typeface="Times New Roman" panose="02020603050405020304" pitchFamily="18" charset="0"/>
                          <a:cs typeface="Times New Roman" panose="02020603050405020304" pitchFamily="18" charset="0"/>
                        </a:rPr>
                        <a:t>Its ensemble nature also makes it robust to noisy image data and provides feature‐importance </a:t>
                      </a:r>
                    </a:p>
                    <a:p>
                      <a:r>
                        <a:rPr lang="en-US" sz="1600" dirty="0">
                          <a:latin typeface="Times New Roman" panose="02020603050405020304" pitchFamily="18" charset="0"/>
                          <a:cs typeface="Times New Roman" panose="02020603050405020304" pitchFamily="18" charset="0"/>
                        </a:rPr>
                        <a:t>insights.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43418578"/>
                  </a:ext>
                </a:extLst>
              </a:tr>
              <a:tr h="0">
                <a:tc>
                  <a:txBody>
                    <a:bodyPr/>
                    <a:lstStyle/>
                    <a:p>
                      <a:r>
                        <a:rPr lang="en-IN" dirty="0">
                          <a:latin typeface="Times New Roman" panose="02020603050405020304" pitchFamily="18" charset="0"/>
                          <a:cs typeface="Times New Roman" panose="02020603050405020304" pitchFamily="18" charset="0"/>
                        </a:rPr>
                        <a:t>2</a:t>
                      </a:r>
                    </a:p>
                  </a:txBody>
                  <a:tcPr/>
                </a:tc>
                <a:tc>
                  <a:txBody>
                    <a:bodyPr/>
                    <a:lstStyle/>
                    <a:p>
                      <a:r>
                        <a:rPr lang="en-IN" sz="1600" dirty="0">
                          <a:latin typeface="Times New Roman" panose="02020603050405020304" pitchFamily="18" charset="0"/>
                          <a:cs typeface="Times New Roman" panose="02020603050405020304" pitchFamily="18" charset="0"/>
                        </a:rPr>
                        <a:t>Silkworm yield prediction: Exploring Leaf  types and Species</a:t>
                      </a:r>
                    </a:p>
                  </a:txBody>
                  <a:tcPr/>
                </a:tc>
                <a:tc>
                  <a:txBody>
                    <a:bodyPr/>
                    <a:lstStyle/>
                    <a:p>
                      <a:pPr algn="just"/>
                      <a:r>
                        <a:rPr lang="pt-BR" sz="1600" dirty="0">
                          <a:latin typeface="Times New Roman" panose="02020603050405020304" pitchFamily="18" charset="0"/>
                          <a:cs typeface="Times New Roman" panose="02020603050405020304" pitchFamily="18" charset="0"/>
                        </a:rPr>
                        <a:t>Suchitha H S</a:t>
                      </a:r>
                    </a:p>
                    <a:p>
                      <a:pPr algn="just"/>
                      <a:r>
                        <a:rPr lang="pt-BR" sz="1600" dirty="0">
                          <a:latin typeface="Times New Roman" panose="02020603050405020304" pitchFamily="18" charset="0"/>
                          <a:cs typeface="Times New Roman" panose="02020603050405020304" pitchFamily="18" charset="0"/>
                        </a:rPr>
                        <a:t>Anish, Gagandeep J E , Manoj M , Manu G</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2025</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The results emphasized the importance of leaf quality and species-specific responses for optimizing silk production, offering.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99589470"/>
                  </a:ext>
                </a:extLst>
              </a:tr>
              <a:tr h="1828883">
                <a:tc>
                  <a:txBody>
                    <a:bodyPr/>
                    <a:lstStyle/>
                    <a:p>
                      <a:r>
                        <a:rPr lang="en-IN"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a:t>
                      </a:r>
                      <a:r>
                        <a:rPr lang="en-US" sz="1600" dirty="0"/>
                        <a:t> </a:t>
                      </a:r>
                      <a:r>
                        <a:rPr lang="en-US" sz="1600" dirty="0">
                          <a:latin typeface="Times New Roman" panose="02020603050405020304" pitchFamily="18" charset="0"/>
                          <a:cs typeface="Times New Roman" panose="02020603050405020304" pitchFamily="18" charset="0"/>
                        </a:rPr>
                        <a:t>comprehensive prediction system for silkworm acute toxicity assessment of environmental 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in-silico pesticides</a:t>
                      </a:r>
                      <a:endParaRPr lang="en-IN" sz="16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txBody>
                  <a:tcPr/>
                </a:tc>
                <a:tc>
                  <a:txBody>
                    <a:bodyPr/>
                    <a:lstStyle/>
                    <a:p>
                      <a:pPr algn="l"/>
                      <a:r>
                        <a:rPr lang="en-IN" sz="1600" dirty="0">
                          <a:latin typeface="Times New Roman" panose="02020603050405020304" pitchFamily="18" charset="0"/>
                          <a:cs typeface="Times New Roman" panose="02020603050405020304" pitchFamily="18" charset="0"/>
                        </a:rPr>
                        <a:t>Yutong Liu, </a:t>
                      </a:r>
                    </a:p>
                    <a:p>
                      <a:pPr algn="l"/>
                      <a:r>
                        <a:rPr lang="en-IN" sz="1600" dirty="0" err="1">
                          <a:latin typeface="Times New Roman" panose="02020603050405020304" pitchFamily="18" charset="0"/>
                          <a:cs typeface="Times New Roman" panose="02020603050405020304" pitchFamily="18" charset="0"/>
                        </a:rPr>
                        <a:t>Houhu</a:t>
                      </a:r>
                      <a:r>
                        <a:rPr lang="en-IN" sz="1600" dirty="0">
                          <a:latin typeface="Times New Roman" panose="02020603050405020304" pitchFamily="18" charset="0"/>
                          <a:cs typeface="Times New Roman" panose="02020603050405020304" pitchFamily="18" charset="0"/>
                        </a:rPr>
                        <a:t> Zhang, Yue Yu , </a:t>
                      </a:r>
                    </a:p>
                    <a:p>
                      <a:pPr algn="l"/>
                      <a:r>
                        <a:rPr lang="en-IN" sz="1600" dirty="0">
                          <a:latin typeface="Times New Roman" panose="02020603050405020304" pitchFamily="18" charset="0"/>
                          <a:cs typeface="Times New Roman" panose="02020603050405020304" pitchFamily="18" charset="0"/>
                        </a:rPr>
                        <a:t>Hua Wu ,</a:t>
                      </a:r>
                    </a:p>
                    <a:p>
                      <a:pPr algn="l"/>
                      <a:r>
                        <a:rPr lang="en-IN" sz="1600" dirty="0">
                          <a:latin typeface="Times New Roman" panose="02020603050405020304" pitchFamily="18" charset="0"/>
                          <a:cs typeface="Times New Roman" panose="02020603050405020304" pitchFamily="18" charset="0"/>
                        </a:rPr>
                        <a:t>Bing Wu, </a:t>
                      </a:r>
                      <a:r>
                        <a:rPr lang="en-IN" sz="1600" dirty="0" err="1">
                          <a:latin typeface="Times New Roman" panose="02020603050405020304" pitchFamily="18" charset="0"/>
                          <a:cs typeface="Times New Roman" panose="02020603050405020304" pitchFamily="18" charset="0"/>
                        </a:rPr>
                        <a:t>Jieshu</a:t>
                      </a:r>
                      <a:r>
                        <a:rPr lang="en-IN" sz="1600" dirty="0">
                          <a:latin typeface="Times New Roman" panose="02020603050405020304" pitchFamily="18" charset="0"/>
                          <a:cs typeface="Times New Roman" panose="02020603050405020304" pitchFamily="18" charset="0"/>
                        </a:rPr>
                        <a:t> Qian</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2024</a:t>
                      </a:r>
                    </a:p>
                  </a:txBody>
                  <a:tcPr/>
                </a:tc>
                <a:tc>
                  <a:txBody>
                    <a:bodyPr/>
                    <a:lstStyle/>
                    <a:p>
                      <a:pPr algn="l"/>
                      <a:r>
                        <a:rPr lang="en-US" sz="1600" dirty="0">
                          <a:latin typeface="Times New Roman" panose="02020603050405020304" pitchFamily="18" charset="0"/>
                          <a:cs typeface="Times New Roman" panose="02020603050405020304" pitchFamily="18" charset="0"/>
                        </a:rPr>
                        <a:t>The model demonstrated high predictive accuracy and reliability, offering a low-cost, efficient tool for ecological risk evaluation and green pesticide design.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74903238"/>
                  </a:ext>
                </a:extLst>
              </a:tr>
            </a:tbl>
          </a:graphicData>
        </a:graphic>
      </p:graphicFrame>
    </p:spTree>
    <p:extLst>
      <p:ext uri="{BB962C8B-B14F-4D97-AF65-F5344CB8AC3E}">
        <p14:creationId xmlns:p14="http://schemas.microsoft.com/office/powerpoint/2010/main" val="1092689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89E48-B6D4-8836-2EA1-D8539A382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C943F-922E-F291-6597-3BA541AE399A}"/>
              </a:ext>
            </a:extLst>
          </p:cNvPr>
          <p:cNvSpPr>
            <a:spLocks noGrp="1"/>
          </p:cNvSpPr>
          <p:nvPr>
            <p:ph type="title"/>
          </p:nvPr>
        </p:nvSpPr>
        <p:spPr>
          <a:xfrm>
            <a:off x="519642" y="81970"/>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Literature survey</a:t>
            </a:r>
            <a:br>
              <a:rPr lang="en-IN" sz="3200" dirty="0">
                <a:latin typeface="Times New Roman" pitchFamily="18" charset="0"/>
                <a:cs typeface="Times New Roman" pitchFamily="18" charset="0"/>
              </a:rPr>
            </a:br>
            <a:endParaRPr lang="en-IN" sz="3200" dirty="0">
              <a:solidFill>
                <a:srgbClr val="C00000"/>
              </a:solidFill>
            </a:endParaRPr>
          </a:p>
        </p:txBody>
      </p:sp>
      <p:sp>
        <p:nvSpPr>
          <p:cNvPr id="3" name="Content Placeholder 2">
            <a:extLst>
              <a:ext uri="{FF2B5EF4-FFF2-40B4-BE49-F238E27FC236}">
                <a16:creationId xmlns:a16="http://schemas.microsoft.com/office/drawing/2014/main" id="{18C52B39-EFFA-A764-7EDF-C14F5E50EF70}"/>
              </a:ext>
            </a:extLst>
          </p:cNvPr>
          <p:cNvSpPr>
            <a:spLocks noGrp="1"/>
          </p:cNvSpPr>
          <p:nvPr>
            <p:ph idx="1"/>
          </p:nvPr>
        </p:nvSpPr>
        <p:spPr>
          <a:xfrm>
            <a:off x="2133600" y="-609600"/>
            <a:ext cx="8229600" cy="5112568"/>
          </a:xfrm>
        </p:spPr>
        <p:txBody>
          <a:bodyPr>
            <a:normAutofit/>
          </a:bodyPr>
          <a:lstStyle/>
          <a:p>
            <a:pPr marL="0" indent="0">
              <a:lnSpc>
                <a:spcPct val="170000"/>
              </a:lnSpc>
              <a:buNone/>
            </a:pPr>
            <a:r>
              <a:rPr lang="en-IN" sz="5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4671235E-5BB0-3E05-F80C-2F26F6E1F1CE}"/>
              </a:ext>
            </a:extLst>
          </p:cNvPr>
          <p:cNvSpPr>
            <a:spLocks noGrp="1"/>
          </p:cNvSpPr>
          <p:nvPr>
            <p:ph type="sldNum" sz="quarter" idx="12"/>
          </p:nvPr>
        </p:nvSpPr>
        <p:spPr/>
        <p:txBody>
          <a:bodyPr/>
          <a:lstStyle/>
          <a:p>
            <a:fld id="{F60AEBAE-898E-45EA-8968-F56BCCECE61B}" type="slidenum">
              <a:rPr lang="en-IN" smtClean="0"/>
              <a:pPr/>
              <a:t>5</a:t>
            </a:fld>
            <a:endParaRPr lang="en-IN" dirty="0"/>
          </a:p>
        </p:txBody>
      </p:sp>
      <p:sp>
        <p:nvSpPr>
          <p:cNvPr id="5" name="Footer Placeholder 4">
            <a:extLst>
              <a:ext uri="{FF2B5EF4-FFF2-40B4-BE49-F238E27FC236}">
                <a16:creationId xmlns:a16="http://schemas.microsoft.com/office/drawing/2014/main" id="{050B760C-AA2A-6F04-A5ED-E2465A8D9C40}"/>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074CA261-6F70-5D4C-C148-0E3E352AB240}"/>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8" name="Picture 1">
            <a:extLst>
              <a:ext uri="{FF2B5EF4-FFF2-40B4-BE49-F238E27FC236}">
                <a16:creationId xmlns:a16="http://schemas.microsoft.com/office/drawing/2014/main" id="{C94D79AA-D86F-0A20-3206-131536E924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53CD0C7B-5201-79A7-DC13-9ACD26AE6015}"/>
              </a:ext>
            </a:extLst>
          </p:cNvPr>
          <p:cNvGraphicFramePr>
            <a:graphicFrameLocks noGrp="1"/>
          </p:cNvGraphicFramePr>
          <p:nvPr>
            <p:extLst>
              <p:ext uri="{D42A27DB-BD31-4B8C-83A1-F6EECF244321}">
                <p14:modId xmlns:p14="http://schemas.microsoft.com/office/powerpoint/2010/main" val="1694682478"/>
              </p:ext>
            </p:extLst>
          </p:nvPr>
        </p:nvGraphicFramePr>
        <p:xfrm>
          <a:off x="160335" y="928672"/>
          <a:ext cx="8374066" cy="5737415"/>
        </p:xfrm>
        <a:graphic>
          <a:graphicData uri="http://schemas.openxmlformats.org/drawingml/2006/table">
            <a:tbl>
              <a:tblPr firstRow="1" bandRow="1">
                <a:tableStyleId>{5940675A-B579-460E-94D1-54222C63F5DA}</a:tableStyleId>
              </a:tblPr>
              <a:tblGrid>
                <a:gridCol w="525465">
                  <a:extLst>
                    <a:ext uri="{9D8B030D-6E8A-4147-A177-3AD203B41FA5}">
                      <a16:colId xmlns:a16="http://schemas.microsoft.com/office/drawing/2014/main" val="1103565084"/>
                    </a:ext>
                  </a:extLst>
                </a:gridCol>
                <a:gridCol w="2106470">
                  <a:extLst>
                    <a:ext uri="{9D8B030D-6E8A-4147-A177-3AD203B41FA5}">
                      <a16:colId xmlns:a16="http://schemas.microsoft.com/office/drawing/2014/main" val="909974802"/>
                    </a:ext>
                  </a:extLst>
                </a:gridCol>
                <a:gridCol w="1398730">
                  <a:extLst>
                    <a:ext uri="{9D8B030D-6E8A-4147-A177-3AD203B41FA5}">
                      <a16:colId xmlns:a16="http://schemas.microsoft.com/office/drawing/2014/main" val="3123551275"/>
                    </a:ext>
                  </a:extLst>
                </a:gridCol>
                <a:gridCol w="1154451">
                  <a:extLst>
                    <a:ext uri="{9D8B030D-6E8A-4147-A177-3AD203B41FA5}">
                      <a16:colId xmlns:a16="http://schemas.microsoft.com/office/drawing/2014/main" val="4255948080"/>
                    </a:ext>
                  </a:extLst>
                </a:gridCol>
                <a:gridCol w="3188950">
                  <a:extLst>
                    <a:ext uri="{9D8B030D-6E8A-4147-A177-3AD203B41FA5}">
                      <a16:colId xmlns:a16="http://schemas.microsoft.com/office/drawing/2014/main" val="433916645"/>
                    </a:ext>
                  </a:extLst>
                </a:gridCol>
              </a:tblGrid>
              <a:tr h="1821580">
                <a:tc>
                  <a:txBody>
                    <a:bodyPr/>
                    <a:lstStyle/>
                    <a:p>
                      <a:r>
                        <a:rPr lang="en-IN" dirty="0">
                          <a:latin typeface="Times New Roman" panose="02020603050405020304" pitchFamily="18" charset="0"/>
                          <a:cs typeface="Times New Roman" panose="02020603050405020304" pitchFamily="18" charset="0"/>
                        </a:rPr>
                        <a:t>4</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Grasserie disease detection in silkworm using machine learnng methods </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Manju G</a:t>
                      </a:r>
                    </a:p>
                    <a:p>
                      <a:pPr algn="just"/>
                      <a:endParaRPr lang="en-IN" sz="18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2024</a:t>
                      </a:r>
                    </a:p>
                  </a:txBody>
                  <a:tcPr/>
                </a:tc>
                <a:tc>
                  <a:txBody>
                    <a:bodyPr/>
                    <a:lstStyle/>
                    <a:p>
                      <a:r>
                        <a:rPr lang="en-US" sz="9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Machine learning techniques to detect Grasserie disease in silkworms, improving early diagnosis accuracy and aiding sericulture farmers in disease management.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9459292"/>
                  </a:ext>
                </a:extLst>
              </a:tr>
              <a:tr h="2173113">
                <a:tc>
                  <a:txBody>
                    <a:bodyPr/>
                    <a:lstStyle/>
                    <a:p>
                      <a:r>
                        <a:rPr lang="en-IN" dirty="0">
                          <a:latin typeface="Times New Roman" panose="02020603050405020304" pitchFamily="18" charset="0"/>
                          <a:cs typeface="Times New Roman" panose="02020603050405020304"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Grasserie Disease Identification in Bombyx Mori Silkworm using Ensemble Learning Approach Ensemble Learning Approach </a:t>
                      </a:r>
                      <a:endParaRPr lang="en-IN" sz="16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Raghavendra CG,</a:t>
                      </a:r>
                    </a:p>
                    <a:p>
                      <a:r>
                        <a:rPr lang="en-IN" sz="1800" dirty="0">
                          <a:latin typeface="Times New Roman" panose="02020603050405020304" pitchFamily="18" charset="0"/>
                          <a:cs typeface="Times New Roman" panose="02020603050405020304" pitchFamily="18" charset="0"/>
                        </a:rPr>
                        <a:t>Dharini Raghavan  </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2022</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The proposed model achieved a test accuracy of 81.81%  and is suitable for real-time implementation on hardware like Raspberry Pi for practical use by farmers, enabling early disease detection and minimizing economic losses.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84846899"/>
                  </a:ext>
                </a:extLst>
              </a:tr>
              <a:tr h="1629835">
                <a:tc>
                  <a:txBody>
                    <a:bodyPr/>
                    <a:lstStyle/>
                    <a:p>
                      <a:r>
                        <a:rPr lang="en-IN" dirty="0">
                          <a:latin typeface="Times New Roman" panose="02020603050405020304" pitchFamily="18" charset="0"/>
                          <a:cs typeface="Times New Roman" panose="02020603050405020304" pitchFamily="18" charset="0"/>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Development of a Muga Disease Early Warning System – A Mobile-Based Service for Seri Farmers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Jonali Goswami,</a:t>
                      </a:r>
                    </a:p>
                    <a:p>
                      <a:pPr algn="just" fontAlgn="ct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Nasreen Rasid,</a:t>
                      </a:r>
                    </a:p>
                    <a:p>
                      <a:pPr marL="0" marR="0" lvl="0" indent="0" algn="just" defTabSz="914400" rtl="0" eaLnBrk="1" fontAlgn="ctr" latinLnBrk="0" hangingPunct="1">
                        <a:lnSpc>
                          <a:spcPct val="100000"/>
                        </a:lnSpc>
                        <a:spcBef>
                          <a:spcPts val="0"/>
                        </a:spcBef>
                        <a:spcAft>
                          <a:spcPts val="0"/>
                        </a:spcAft>
                        <a:buClrTx/>
                        <a:buSzTx/>
                        <a:buFontTx/>
                        <a:buNone/>
                        <a:tabLst/>
                        <a:defRPr/>
                      </a:pP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D K Gogoi</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2021</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 mobile-based Muga Disease Early Warning System was developed to predict flacherie disease in silkworm farms 5–10 days in advance, helping farmers take timely preventive measures and reduce crop loss.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52880776"/>
                  </a:ext>
                </a:extLst>
              </a:tr>
            </a:tbl>
          </a:graphicData>
        </a:graphic>
      </p:graphicFrame>
    </p:spTree>
    <p:extLst>
      <p:ext uri="{BB962C8B-B14F-4D97-AF65-F5344CB8AC3E}">
        <p14:creationId xmlns:p14="http://schemas.microsoft.com/office/powerpoint/2010/main" val="4236470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50677-ADFC-7AAF-BDDB-4A24D7FAE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C55E1-3254-6757-09E1-1A0FC0B38DF2}"/>
              </a:ext>
            </a:extLst>
          </p:cNvPr>
          <p:cNvSpPr>
            <a:spLocks noGrp="1"/>
          </p:cNvSpPr>
          <p:nvPr>
            <p:ph type="title"/>
          </p:nvPr>
        </p:nvSpPr>
        <p:spPr>
          <a:xfrm>
            <a:off x="519642" y="81970"/>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Literature survey</a:t>
            </a:r>
            <a:br>
              <a:rPr lang="en-IN" sz="3200" dirty="0">
                <a:latin typeface="Times New Roman" pitchFamily="18" charset="0"/>
                <a:cs typeface="Times New Roman" pitchFamily="18" charset="0"/>
              </a:rPr>
            </a:br>
            <a:endParaRPr lang="en-IN" sz="3200" dirty="0">
              <a:solidFill>
                <a:srgbClr val="C00000"/>
              </a:solidFill>
            </a:endParaRPr>
          </a:p>
        </p:txBody>
      </p:sp>
      <p:sp>
        <p:nvSpPr>
          <p:cNvPr id="3" name="Content Placeholder 2">
            <a:extLst>
              <a:ext uri="{FF2B5EF4-FFF2-40B4-BE49-F238E27FC236}">
                <a16:creationId xmlns:a16="http://schemas.microsoft.com/office/drawing/2014/main" id="{B824F422-F7F8-B93F-8D92-AA907494DD30}"/>
              </a:ext>
            </a:extLst>
          </p:cNvPr>
          <p:cNvSpPr>
            <a:spLocks noGrp="1"/>
          </p:cNvSpPr>
          <p:nvPr>
            <p:ph idx="1"/>
          </p:nvPr>
        </p:nvSpPr>
        <p:spPr>
          <a:xfrm>
            <a:off x="2133600" y="-609600"/>
            <a:ext cx="8229600" cy="5112568"/>
          </a:xfrm>
        </p:spPr>
        <p:txBody>
          <a:bodyPr>
            <a:normAutofit/>
          </a:bodyPr>
          <a:lstStyle/>
          <a:p>
            <a:pPr marL="0" indent="0">
              <a:lnSpc>
                <a:spcPct val="170000"/>
              </a:lnSpc>
              <a:buNone/>
            </a:pPr>
            <a:r>
              <a:rPr lang="en-IN" sz="5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E979B509-0A13-56EE-1445-928104986E4F}"/>
              </a:ext>
            </a:extLst>
          </p:cNvPr>
          <p:cNvSpPr>
            <a:spLocks noGrp="1"/>
          </p:cNvSpPr>
          <p:nvPr>
            <p:ph type="sldNum" sz="quarter" idx="12"/>
          </p:nvPr>
        </p:nvSpPr>
        <p:spPr/>
        <p:txBody>
          <a:bodyPr/>
          <a:lstStyle/>
          <a:p>
            <a:fld id="{F60AEBAE-898E-45EA-8968-F56BCCECE61B}" type="slidenum">
              <a:rPr lang="en-IN" smtClean="0"/>
              <a:pPr/>
              <a:t>6</a:t>
            </a:fld>
            <a:endParaRPr lang="en-IN" dirty="0"/>
          </a:p>
        </p:txBody>
      </p:sp>
      <p:sp>
        <p:nvSpPr>
          <p:cNvPr id="5" name="Footer Placeholder 4">
            <a:extLst>
              <a:ext uri="{FF2B5EF4-FFF2-40B4-BE49-F238E27FC236}">
                <a16:creationId xmlns:a16="http://schemas.microsoft.com/office/drawing/2014/main" id="{B14E892D-ED43-68A4-B547-BD30CAA7C281}"/>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739FDA86-D877-D0A2-8A60-902C167716F8}"/>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8" name="Picture 1">
            <a:extLst>
              <a:ext uri="{FF2B5EF4-FFF2-40B4-BE49-F238E27FC236}">
                <a16:creationId xmlns:a16="http://schemas.microsoft.com/office/drawing/2014/main" id="{4C6CD9B3-AEC8-4D18-81A0-C1AC35F8F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2868451A-4A87-F0BF-02B9-D253F5A4A51F}"/>
              </a:ext>
            </a:extLst>
          </p:cNvPr>
          <p:cNvGraphicFramePr>
            <a:graphicFrameLocks noGrp="1"/>
          </p:cNvGraphicFramePr>
          <p:nvPr>
            <p:extLst>
              <p:ext uri="{D42A27DB-BD31-4B8C-83A1-F6EECF244321}">
                <p14:modId xmlns:p14="http://schemas.microsoft.com/office/powerpoint/2010/main" val="1441066260"/>
              </p:ext>
            </p:extLst>
          </p:nvPr>
        </p:nvGraphicFramePr>
        <p:xfrm>
          <a:off x="609599" y="1010642"/>
          <a:ext cx="8246162" cy="3291840"/>
        </p:xfrm>
        <a:graphic>
          <a:graphicData uri="http://schemas.openxmlformats.org/drawingml/2006/table">
            <a:tbl>
              <a:tblPr firstRow="1" bandRow="1">
                <a:tableStyleId>{5940675A-B579-460E-94D1-54222C63F5DA}</a:tableStyleId>
              </a:tblPr>
              <a:tblGrid>
                <a:gridCol w="634321">
                  <a:extLst>
                    <a:ext uri="{9D8B030D-6E8A-4147-A177-3AD203B41FA5}">
                      <a16:colId xmlns:a16="http://schemas.microsoft.com/office/drawing/2014/main" val="1103565084"/>
                    </a:ext>
                  </a:extLst>
                </a:gridCol>
                <a:gridCol w="2457990">
                  <a:extLst>
                    <a:ext uri="{9D8B030D-6E8A-4147-A177-3AD203B41FA5}">
                      <a16:colId xmlns:a16="http://schemas.microsoft.com/office/drawing/2014/main" val="909974802"/>
                    </a:ext>
                  </a:extLst>
                </a:gridCol>
                <a:gridCol w="1860690">
                  <a:extLst>
                    <a:ext uri="{9D8B030D-6E8A-4147-A177-3AD203B41FA5}">
                      <a16:colId xmlns:a16="http://schemas.microsoft.com/office/drawing/2014/main" val="3123551275"/>
                    </a:ext>
                  </a:extLst>
                </a:gridCol>
                <a:gridCol w="838200">
                  <a:extLst>
                    <a:ext uri="{9D8B030D-6E8A-4147-A177-3AD203B41FA5}">
                      <a16:colId xmlns:a16="http://schemas.microsoft.com/office/drawing/2014/main" val="4255948080"/>
                    </a:ext>
                  </a:extLst>
                </a:gridCol>
                <a:gridCol w="2454961">
                  <a:extLst>
                    <a:ext uri="{9D8B030D-6E8A-4147-A177-3AD203B41FA5}">
                      <a16:colId xmlns:a16="http://schemas.microsoft.com/office/drawing/2014/main" val="433916645"/>
                    </a:ext>
                  </a:extLst>
                </a:gridCol>
              </a:tblGrid>
              <a:tr h="1407079">
                <a:tc>
                  <a:txBody>
                    <a:bodyPr/>
                    <a:lstStyle/>
                    <a:p>
                      <a:r>
                        <a:rPr lang="en-IN" dirty="0">
                          <a:latin typeface="Times New Roman" panose="02020603050405020304" pitchFamily="18" charset="0"/>
                          <a:cs typeface="Times New Roman" panose="02020603050405020304"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The evolutionary road from wild moth to domestic silkworm</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Hui Xiang, </a:t>
                      </a:r>
                    </a:p>
                    <a:p>
                      <a:r>
                        <a:rPr lang="en-IN" sz="1800" dirty="0">
                          <a:latin typeface="Times New Roman" panose="02020603050405020304" pitchFamily="18" charset="0"/>
                          <a:cs typeface="Times New Roman" panose="02020603050405020304" pitchFamily="18" charset="0"/>
                        </a:rPr>
                        <a:t>Xiaojing Liu, </a:t>
                      </a:r>
                    </a:p>
                    <a:p>
                      <a:r>
                        <a:rPr lang="en-IN" sz="1800" dirty="0">
                          <a:latin typeface="Times New Roman" panose="02020603050405020304" pitchFamily="18" charset="0"/>
                          <a:cs typeface="Times New Roman" panose="02020603050405020304" pitchFamily="18" charset="0"/>
                        </a:rPr>
                        <a:t>Muwang Li</a:t>
                      </a:r>
                    </a:p>
                    <a:p>
                      <a:pPr algn="just"/>
                      <a:endParaRPr lang="en-IN" sz="18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2018</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dirty="0">
                          <a:latin typeface="Times New Roman" panose="02020603050405020304" pitchFamily="18" charset="0"/>
                          <a:cs typeface="Times New Roman" panose="02020603050405020304" pitchFamily="18" charset="0"/>
                        </a:rPr>
                        <a:t>Nitrogen metabolism and circadian rhythm were under strong selection, contributing to enhanced silk production and adaptation to farming conditions. These findings deepen understanding of insect domestication and offer resources for improving silkworm breeding.</a:t>
                      </a:r>
                    </a:p>
                    <a:p>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9459292"/>
                  </a:ext>
                </a:extLst>
              </a:tr>
            </a:tbl>
          </a:graphicData>
        </a:graphic>
      </p:graphicFrame>
    </p:spTree>
    <p:extLst>
      <p:ext uri="{BB962C8B-B14F-4D97-AF65-F5344CB8AC3E}">
        <p14:creationId xmlns:p14="http://schemas.microsoft.com/office/powerpoint/2010/main" val="1047642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CC6D8-71EC-F8DA-1922-C1CA23801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7A64D-9D65-C3CA-A0CF-7E75DCEAB837}"/>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Problem statement</a:t>
            </a:r>
            <a:br>
              <a:rPr lang="en-IN" sz="3200" dirty="0">
                <a:latin typeface="Times New Roman" pitchFamily="18" charset="0"/>
                <a:cs typeface="Times New Roman" pitchFamily="18" charset="0"/>
              </a:rPr>
            </a:br>
            <a:endParaRPr lang="en-IN" sz="3200" dirty="0">
              <a:solidFill>
                <a:srgbClr val="C00000"/>
              </a:solidFill>
            </a:endParaRPr>
          </a:p>
        </p:txBody>
      </p:sp>
      <p:sp>
        <p:nvSpPr>
          <p:cNvPr id="3" name="Content Placeholder 2">
            <a:extLst>
              <a:ext uri="{FF2B5EF4-FFF2-40B4-BE49-F238E27FC236}">
                <a16:creationId xmlns:a16="http://schemas.microsoft.com/office/drawing/2014/main" id="{08D3193D-5B4D-A9C8-3114-221B0CD21BC1}"/>
              </a:ext>
            </a:extLst>
          </p:cNvPr>
          <p:cNvSpPr>
            <a:spLocks noGrp="1"/>
          </p:cNvSpPr>
          <p:nvPr>
            <p:ph idx="1"/>
          </p:nvPr>
        </p:nvSpPr>
        <p:spPr>
          <a:xfrm>
            <a:off x="457200" y="1052736"/>
            <a:ext cx="8229600" cy="5112568"/>
          </a:xfrm>
        </p:spPr>
        <p:txBody>
          <a:bodyPr>
            <a:normAutofit/>
          </a:bodyPr>
          <a:lstStyle/>
          <a:p>
            <a:pPr marL="0" indent="0" algn="just">
              <a:lnSpc>
                <a:spcPct val="150000"/>
              </a:lnSpc>
              <a:buNone/>
            </a:pPr>
            <a:r>
              <a:rPr lang="en-US" sz="2000" dirty="0">
                <a:latin typeface="Times New Roman" panose="02020603050405020304" pitchFamily="18" charset="0"/>
                <a:cs typeface="Times New Roman" pitchFamily="18" charset="0"/>
              </a:rPr>
              <a:t>Manual detection of diseases in silkworms and mulberry leaves is slow, inaccurate, and dependent on expert knowledge, making large-scale monitoring difficult. The lack of automated tools leads to delayed treatment and increased loss in sericulture. This project aims to develop a CNN-based system that automatically identifies diseases from images, providing fast and reliable detection to support efficient sericulture management.</a:t>
            </a:r>
            <a:endParaRPr lang="en-IN" sz="2000" dirty="0">
              <a:latin typeface="Times New Roman" panose="02020603050405020304" pitchFamily="18" charset="0"/>
              <a:cs typeface="Times New Roman" pitchFamily="18" charset="0"/>
            </a:endParaRPr>
          </a:p>
        </p:txBody>
      </p:sp>
      <p:sp>
        <p:nvSpPr>
          <p:cNvPr id="4" name="Slide Number Placeholder 3">
            <a:extLst>
              <a:ext uri="{FF2B5EF4-FFF2-40B4-BE49-F238E27FC236}">
                <a16:creationId xmlns:a16="http://schemas.microsoft.com/office/drawing/2014/main" id="{6B6D0FC1-629F-D546-FE64-D19179288E73}"/>
              </a:ext>
            </a:extLst>
          </p:cNvPr>
          <p:cNvSpPr>
            <a:spLocks noGrp="1"/>
          </p:cNvSpPr>
          <p:nvPr>
            <p:ph type="sldNum" sz="quarter" idx="12"/>
          </p:nvPr>
        </p:nvSpPr>
        <p:spPr/>
        <p:txBody>
          <a:bodyPr/>
          <a:lstStyle/>
          <a:p>
            <a:fld id="{F60AEBAE-898E-45EA-8968-F56BCCECE61B}" type="slidenum">
              <a:rPr lang="en-IN" smtClean="0"/>
              <a:pPr/>
              <a:t>7</a:t>
            </a:fld>
            <a:endParaRPr lang="en-IN" dirty="0"/>
          </a:p>
        </p:txBody>
      </p:sp>
      <p:sp>
        <p:nvSpPr>
          <p:cNvPr id="5" name="Footer Placeholder 4">
            <a:extLst>
              <a:ext uri="{FF2B5EF4-FFF2-40B4-BE49-F238E27FC236}">
                <a16:creationId xmlns:a16="http://schemas.microsoft.com/office/drawing/2014/main" id="{273DDDEB-F87C-1C70-88D0-8CDF7905D488}"/>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091D59C8-90BE-7050-EAD0-DA8450C7BFE3}"/>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DADEDC24-8F2C-3260-40E3-B4558A874E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934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B729A-29EF-1B09-00DC-78858C7F9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82192-86B1-96B6-8AA0-1AA5BD3F0A3F}"/>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 Objectives</a:t>
            </a:r>
          </a:p>
        </p:txBody>
      </p:sp>
      <p:sp>
        <p:nvSpPr>
          <p:cNvPr id="3" name="Content Placeholder 2">
            <a:extLst>
              <a:ext uri="{FF2B5EF4-FFF2-40B4-BE49-F238E27FC236}">
                <a16:creationId xmlns:a16="http://schemas.microsoft.com/office/drawing/2014/main" id="{6692DF17-12C3-E319-1D45-3641B0E1F8DA}"/>
              </a:ext>
            </a:extLst>
          </p:cNvPr>
          <p:cNvSpPr>
            <a:spLocks noGrp="1"/>
          </p:cNvSpPr>
          <p:nvPr>
            <p:ph idx="1"/>
          </p:nvPr>
        </p:nvSpPr>
        <p:spPr>
          <a:xfrm>
            <a:off x="457200" y="1052736"/>
            <a:ext cx="8229600" cy="5112568"/>
          </a:xfrm>
        </p:spPr>
        <p:txBody>
          <a:bodyPr>
            <a:normAutofit/>
          </a:bodyPr>
          <a:lstStyle/>
          <a:p>
            <a:pPr marL="0" indent="0">
              <a:lnSpc>
                <a:spcPct val="170000"/>
              </a:lnSpc>
              <a:buNone/>
            </a:pPr>
            <a:r>
              <a:rPr lang="en-IN" sz="5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7BB14BAB-6D6F-0B81-502A-78726E7885EF}"/>
              </a:ext>
            </a:extLst>
          </p:cNvPr>
          <p:cNvSpPr>
            <a:spLocks noGrp="1"/>
          </p:cNvSpPr>
          <p:nvPr>
            <p:ph type="sldNum" sz="quarter" idx="12"/>
          </p:nvPr>
        </p:nvSpPr>
        <p:spPr/>
        <p:txBody>
          <a:bodyPr/>
          <a:lstStyle/>
          <a:p>
            <a:fld id="{F60AEBAE-898E-45EA-8968-F56BCCECE61B}" type="slidenum">
              <a:rPr lang="en-IN" smtClean="0"/>
              <a:pPr/>
              <a:t>8</a:t>
            </a:fld>
            <a:endParaRPr lang="en-IN" dirty="0"/>
          </a:p>
        </p:txBody>
      </p:sp>
      <p:sp>
        <p:nvSpPr>
          <p:cNvPr id="5" name="Footer Placeholder 4">
            <a:extLst>
              <a:ext uri="{FF2B5EF4-FFF2-40B4-BE49-F238E27FC236}">
                <a16:creationId xmlns:a16="http://schemas.microsoft.com/office/drawing/2014/main" id="{D75B2D16-4152-2C3D-0410-469B58F2D5C2}"/>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4A2EA6B4-1BAA-BBEC-C6E3-545DDDC03AE1}"/>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C2DF3A98-95AC-F028-BC42-E5D8336687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802BDBD-E37B-8876-0407-A33C4AA66D0B}"/>
              </a:ext>
            </a:extLst>
          </p:cNvPr>
          <p:cNvSpPr txBox="1"/>
          <p:nvPr/>
        </p:nvSpPr>
        <p:spPr>
          <a:xfrm>
            <a:off x="647700" y="1228327"/>
            <a:ext cx="7848600" cy="373031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develop an automated system using CNN for detecting diseases in both silkworms and mulberry leaves.</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identify infections at an early stage with high accuracy, helping prevent crop and cocoon loss.</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reduce manual effort and time required for disease diagnosis in sericulture.</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provide farmers with a user-friendly and scalable tool for timely preventive measures.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087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29DD2-2764-D5EB-6355-21BDA3C13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9B583-3824-1CA6-0CA2-8F27874A5B0E}"/>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 Hardware requirements</a:t>
            </a:r>
            <a:br>
              <a:rPr lang="en-IN" sz="3200" dirty="0">
                <a:latin typeface="Times New Roman" pitchFamily="18" charset="0"/>
                <a:cs typeface="Times New Roman" pitchFamily="18" charset="0"/>
              </a:rPr>
            </a:br>
            <a:endParaRPr lang="en-IN" sz="3200" dirty="0">
              <a:solidFill>
                <a:srgbClr val="C00000"/>
              </a:solidFill>
            </a:endParaRPr>
          </a:p>
        </p:txBody>
      </p:sp>
      <p:sp>
        <p:nvSpPr>
          <p:cNvPr id="3" name="Content Placeholder 2">
            <a:extLst>
              <a:ext uri="{FF2B5EF4-FFF2-40B4-BE49-F238E27FC236}">
                <a16:creationId xmlns:a16="http://schemas.microsoft.com/office/drawing/2014/main" id="{47B5F694-2284-51D5-4138-EF40105DCBF2}"/>
              </a:ext>
            </a:extLst>
          </p:cNvPr>
          <p:cNvSpPr>
            <a:spLocks noGrp="1"/>
          </p:cNvSpPr>
          <p:nvPr>
            <p:ph idx="1"/>
          </p:nvPr>
        </p:nvSpPr>
        <p:spPr>
          <a:xfrm>
            <a:off x="457200" y="1447800"/>
            <a:ext cx="7696200" cy="4717504"/>
          </a:xfrm>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Intel Core i5 </a:t>
            </a:r>
          </a:p>
          <a:p>
            <a:pPr algn="just">
              <a:lnSpc>
                <a:spcPct val="150000"/>
              </a:lnSpc>
            </a:pPr>
            <a:r>
              <a:rPr lang="en-IN" sz="2000" dirty="0">
                <a:latin typeface="Times New Roman" panose="02020603050405020304" pitchFamily="18" charset="0"/>
                <a:cs typeface="Times New Roman" panose="02020603050405020304" pitchFamily="18" charset="0"/>
              </a:rPr>
              <a:t>Minimum 8 GB RAM</a:t>
            </a:r>
          </a:p>
          <a:p>
            <a:pPr algn="just">
              <a:lnSpc>
                <a:spcPct val="150000"/>
              </a:lnSpc>
            </a:pPr>
            <a:r>
              <a:rPr lang="en-IN" sz="2000" dirty="0">
                <a:latin typeface="Times New Roman" panose="02020603050405020304" pitchFamily="18" charset="0"/>
                <a:cs typeface="Times New Roman" panose="02020603050405020304" pitchFamily="18" charset="0"/>
              </a:rPr>
              <a:t>At least  250 GB of storage</a:t>
            </a:r>
          </a:p>
          <a:p>
            <a:pPr algn="just">
              <a:lnSpc>
                <a:spcPct val="150000"/>
              </a:lnSpc>
            </a:pPr>
            <a:r>
              <a:rPr lang="en-IN" sz="2000" dirty="0">
                <a:latin typeface="Times New Roman" panose="02020603050405020304" pitchFamily="18" charset="0"/>
                <a:cs typeface="Times New Roman" panose="02020603050405020304" pitchFamily="18" charset="0"/>
              </a:rPr>
              <a:t>GPU (Graphics Processing Unit)</a:t>
            </a:r>
          </a:p>
          <a:p>
            <a:pPr algn="just">
              <a:lnSpc>
                <a:spcPct val="150000"/>
              </a:lnSpc>
            </a:pPr>
            <a:r>
              <a:rPr lang="en-IN" sz="2000" dirty="0">
                <a:latin typeface="Times New Roman" panose="02020603050405020304" pitchFamily="18" charset="0"/>
                <a:cs typeface="Times New Roman" panose="02020603050405020304" pitchFamily="18" charset="0"/>
              </a:rPr>
              <a:t>Camera or smartphone </a:t>
            </a:r>
          </a:p>
          <a:p>
            <a:pPr algn="just">
              <a:lnSpc>
                <a:spcPct val="150000"/>
              </a:lnSpc>
            </a:pPr>
            <a:r>
              <a:rPr lang="en-IN" sz="2000" dirty="0">
                <a:latin typeface="Times New Roman" panose="02020603050405020304" pitchFamily="18" charset="0"/>
                <a:cs typeface="Times New Roman" panose="02020603050405020304" pitchFamily="18" charset="0"/>
              </a:rPr>
              <a:t>64-bit operating system</a:t>
            </a:r>
          </a:p>
        </p:txBody>
      </p:sp>
      <p:sp>
        <p:nvSpPr>
          <p:cNvPr id="4" name="Slide Number Placeholder 3">
            <a:extLst>
              <a:ext uri="{FF2B5EF4-FFF2-40B4-BE49-F238E27FC236}">
                <a16:creationId xmlns:a16="http://schemas.microsoft.com/office/drawing/2014/main" id="{55F0893D-14C6-F041-A19E-9E59DD2FC104}"/>
              </a:ext>
            </a:extLst>
          </p:cNvPr>
          <p:cNvSpPr>
            <a:spLocks noGrp="1"/>
          </p:cNvSpPr>
          <p:nvPr>
            <p:ph type="sldNum" sz="quarter" idx="12"/>
          </p:nvPr>
        </p:nvSpPr>
        <p:spPr/>
        <p:txBody>
          <a:bodyPr/>
          <a:lstStyle/>
          <a:p>
            <a:fld id="{F60AEBAE-898E-45EA-8968-F56BCCECE61B}" type="slidenum">
              <a:rPr lang="en-IN" smtClean="0"/>
              <a:pPr/>
              <a:t>9</a:t>
            </a:fld>
            <a:endParaRPr lang="en-IN" dirty="0"/>
          </a:p>
        </p:txBody>
      </p:sp>
      <p:sp>
        <p:nvSpPr>
          <p:cNvPr id="5" name="Footer Placeholder 4">
            <a:extLst>
              <a:ext uri="{FF2B5EF4-FFF2-40B4-BE49-F238E27FC236}">
                <a16:creationId xmlns:a16="http://schemas.microsoft.com/office/drawing/2014/main" id="{921ABE96-2FA8-8074-A172-259552D54BA5}"/>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327ED494-ED6B-91F0-9D85-1C244031278F}"/>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CB8B68B2-0DD1-2C82-B3F8-FB49A17CDD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297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0480B-8B6D-0E38-4C84-AC8C44BFC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B53E4-B854-2AA5-8C5E-20C5C6C7DA97}"/>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 Software requirement</a:t>
            </a:r>
            <a:endParaRPr lang="en-IN" sz="3200" dirty="0">
              <a:solidFill>
                <a:srgbClr val="C00000"/>
              </a:solidFill>
            </a:endParaRPr>
          </a:p>
        </p:txBody>
      </p:sp>
      <p:sp>
        <p:nvSpPr>
          <p:cNvPr id="3" name="Content Placeholder 2">
            <a:extLst>
              <a:ext uri="{FF2B5EF4-FFF2-40B4-BE49-F238E27FC236}">
                <a16:creationId xmlns:a16="http://schemas.microsoft.com/office/drawing/2014/main" id="{17FF7B02-9D20-6178-B5CE-21590CC392DA}"/>
              </a:ext>
            </a:extLst>
          </p:cNvPr>
          <p:cNvSpPr>
            <a:spLocks noGrp="1"/>
          </p:cNvSpPr>
          <p:nvPr>
            <p:ph idx="1"/>
          </p:nvPr>
        </p:nvSpPr>
        <p:spPr>
          <a:xfrm>
            <a:off x="288239" y="1031203"/>
            <a:ext cx="7569909" cy="5724263"/>
          </a:xfrm>
        </p:spPr>
        <p:txBody>
          <a:bodyPr>
            <a:normAutofit/>
          </a:bodyPr>
          <a:lstStyle/>
          <a:p>
            <a:pPr marL="457200" indent="-457200" algn="just">
              <a:lnSpc>
                <a:spcPct val="160000"/>
              </a:lnSpc>
              <a:buAutoNum type="arabicPeriod"/>
            </a:pPr>
            <a:r>
              <a:rPr lang="en-IN" sz="2000" dirty="0">
                <a:latin typeface="Times New Roman" panose="02020603050405020304" pitchFamily="18" charset="0"/>
                <a:cs typeface="Times New Roman" panose="02020603050405020304" pitchFamily="18" charset="0"/>
              </a:rPr>
              <a:t>Operating System </a:t>
            </a:r>
          </a:p>
          <a:p>
            <a:pPr marL="457200" indent="-457200" algn="just">
              <a:lnSpc>
                <a:spcPct val="160000"/>
              </a:lnSpc>
              <a:buAutoNum type="arabicPeriod"/>
            </a:pPr>
            <a:r>
              <a:rPr lang="en-IN" sz="2000" dirty="0">
                <a:latin typeface="Times New Roman" panose="02020603050405020304" pitchFamily="18" charset="0"/>
                <a:cs typeface="Times New Roman" panose="02020603050405020304" pitchFamily="18" charset="0"/>
              </a:rPr>
              <a:t>Python</a:t>
            </a:r>
          </a:p>
          <a:p>
            <a:pPr marL="457200" indent="-457200" algn="just">
              <a:lnSpc>
                <a:spcPct val="160000"/>
              </a:lnSpc>
              <a:buAutoNum type="arabicPeriod"/>
            </a:pPr>
            <a:r>
              <a:rPr lang="en-IN" sz="2000" dirty="0">
                <a:latin typeface="Times New Roman" panose="02020603050405020304" pitchFamily="18" charset="0"/>
                <a:cs typeface="Times New Roman" panose="02020603050405020304" pitchFamily="18" charset="0"/>
              </a:rPr>
              <a:t>VS Code </a:t>
            </a:r>
          </a:p>
          <a:p>
            <a:pPr marL="457200" indent="-457200" algn="just">
              <a:lnSpc>
                <a:spcPct val="160000"/>
              </a:lnSpc>
              <a:buAutoNum type="arabicPeriod"/>
            </a:pPr>
            <a:r>
              <a:rPr lang="en-IN" sz="2000" dirty="0">
                <a:latin typeface="Times New Roman" panose="02020603050405020304" pitchFamily="18" charset="0"/>
                <a:cs typeface="Times New Roman" panose="02020603050405020304" pitchFamily="18" charset="0"/>
              </a:rPr>
              <a:t>TensorFlow</a:t>
            </a:r>
          </a:p>
          <a:p>
            <a:pPr marL="457200" indent="-457200" algn="just">
              <a:lnSpc>
                <a:spcPct val="160000"/>
              </a:lnSpc>
              <a:buAutoNum type="arabicPeriod"/>
            </a:pPr>
            <a:r>
              <a:rPr lang="en-IN" sz="2000" dirty="0" err="1">
                <a:latin typeface="Times New Roman" panose="02020603050405020304" pitchFamily="18" charset="0"/>
                <a:cs typeface="Times New Roman" panose="02020603050405020304" pitchFamily="18" charset="0"/>
              </a:rPr>
              <a:t>Keras</a:t>
            </a:r>
            <a:r>
              <a:rPr lang="en-IN" sz="2000" dirty="0">
                <a:latin typeface="Times New Roman" panose="02020603050405020304" pitchFamily="18" charset="0"/>
                <a:cs typeface="Times New Roman" panose="02020603050405020304" pitchFamily="18" charset="0"/>
              </a:rPr>
              <a:t> </a:t>
            </a:r>
          </a:p>
          <a:p>
            <a:pPr marL="457200" indent="-457200" algn="just">
              <a:lnSpc>
                <a:spcPct val="160000"/>
              </a:lnSpc>
              <a:buAutoNum type="arabicPeriod"/>
            </a:pPr>
            <a:r>
              <a:rPr lang="en-IN" sz="2000" dirty="0">
                <a:latin typeface="Times New Roman" panose="02020603050405020304" pitchFamily="18" charset="0"/>
                <a:cs typeface="Times New Roman" panose="02020603050405020304" pitchFamily="18" charset="0"/>
              </a:rPr>
              <a:t>Flask</a:t>
            </a:r>
          </a:p>
        </p:txBody>
      </p:sp>
      <p:sp>
        <p:nvSpPr>
          <p:cNvPr id="4" name="Slide Number Placeholder 3">
            <a:extLst>
              <a:ext uri="{FF2B5EF4-FFF2-40B4-BE49-F238E27FC236}">
                <a16:creationId xmlns:a16="http://schemas.microsoft.com/office/drawing/2014/main" id="{81D3CF77-6294-8D7F-308C-1643BD433E90}"/>
              </a:ext>
            </a:extLst>
          </p:cNvPr>
          <p:cNvSpPr>
            <a:spLocks noGrp="1"/>
          </p:cNvSpPr>
          <p:nvPr>
            <p:ph type="sldNum" sz="quarter" idx="12"/>
          </p:nvPr>
        </p:nvSpPr>
        <p:spPr/>
        <p:txBody>
          <a:bodyPr/>
          <a:lstStyle/>
          <a:p>
            <a:fld id="{F60AEBAE-898E-45EA-8968-F56BCCECE61B}" type="slidenum">
              <a:rPr lang="en-IN" smtClean="0"/>
              <a:pPr/>
              <a:t>10</a:t>
            </a:fld>
            <a:endParaRPr lang="en-IN" dirty="0"/>
          </a:p>
        </p:txBody>
      </p:sp>
      <p:sp>
        <p:nvSpPr>
          <p:cNvPr id="5" name="Footer Placeholder 4">
            <a:extLst>
              <a:ext uri="{FF2B5EF4-FFF2-40B4-BE49-F238E27FC236}">
                <a16:creationId xmlns:a16="http://schemas.microsoft.com/office/drawing/2014/main" id="{2D64715D-5D3E-CFA5-6C83-4E2793376D13}"/>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B5694E97-2E8C-A4EE-7630-8F89E76C55E7}"/>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F9FF40C6-C414-C101-FB5D-371F434F6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835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D4A86-FFFE-D0C4-9461-BDCC49DB8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5F1DC-96E2-71F2-6616-1EFF15507FEE}"/>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Methodology </a:t>
            </a:r>
            <a:br>
              <a:rPr lang="en-IN" sz="3200" dirty="0">
                <a:latin typeface="Times New Roman" pitchFamily="18" charset="0"/>
                <a:cs typeface="Times New Roman" pitchFamily="18" charset="0"/>
              </a:rPr>
            </a:br>
            <a:endParaRPr lang="en-IN" sz="3200" dirty="0">
              <a:solidFill>
                <a:srgbClr val="C00000"/>
              </a:solidFill>
            </a:endParaRPr>
          </a:p>
        </p:txBody>
      </p:sp>
      <p:sp>
        <p:nvSpPr>
          <p:cNvPr id="3" name="Content Placeholder 2">
            <a:extLst>
              <a:ext uri="{FF2B5EF4-FFF2-40B4-BE49-F238E27FC236}">
                <a16:creationId xmlns:a16="http://schemas.microsoft.com/office/drawing/2014/main" id="{8C586046-07FC-C650-19FE-3B486E3654F2}"/>
              </a:ext>
            </a:extLst>
          </p:cNvPr>
          <p:cNvSpPr>
            <a:spLocks noGrp="1"/>
          </p:cNvSpPr>
          <p:nvPr>
            <p:ph idx="1"/>
          </p:nvPr>
        </p:nvSpPr>
        <p:spPr>
          <a:xfrm>
            <a:off x="626161" y="802177"/>
            <a:ext cx="8229600" cy="5876446"/>
          </a:xfrm>
        </p:spPr>
        <p:txBody>
          <a:bodyPr>
            <a:normAutofit/>
          </a:bodyPr>
          <a:lstStyle/>
          <a:p>
            <a:pPr marL="0" indent="0">
              <a:lnSpc>
                <a:spcPct val="170000"/>
              </a:lnSpc>
              <a:buNone/>
            </a:pPr>
            <a:r>
              <a:rPr lang="en-IN" sz="5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CCA1D3B-2706-5374-2F7D-06E53F5D2229}"/>
              </a:ext>
            </a:extLst>
          </p:cNvPr>
          <p:cNvSpPr>
            <a:spLocks noGrp="1"/>
          </p:cNvSpPr>
          <p:nvPr>
            <p:ph type="sldNum" sz="quarter" idx="12"/>
          </p:nvPr>
        </p:nvSpPr>
        <p:spPr/>
        <p:txBody>
          <a:bodyPr/>
          <a:lstStyle/>
          <a:p>
            <a:fld id="{F60AEBAE-898E-45EA-8968-F56BCCECE61B}" type="slidenum">
              <a:rPr lang="en-IN" smtClean="0"/>
              <a:pPr/>
              <a:t>11</a:t>
            </a:fld>
            <a:endParaRPr lang="en-IN" dirty="0"/>
          </a:p>
        </p:txBody>
      </p:sp>
      <p:sp>
        <p:nvSpPr>
          <p:cNvPr id="5" name="Footer Placeholder 4">
            <a:extLst>
              <a:ext uri="{FF2B5EF4-FFF2-40B4-BE49-F238E27FC236}">
                <a16:creationId xmlns:a16="http://schemas.microsoft.com/office/drawing/2014/main" id="{660C9DDB-1AA2-F3E9-4EB7-B61C4A830423}"/>
              </a:ext>
            </a:extLst>
          </p:cNvPr>
          <p:cNvSpPr>
            <a:spLocks noGrp="1"/>
          </p:cNvSpPr>
          <p:nvPr>
            <p:ph type="ftr" sz="quarter" idx="11"/>
          </p:nvPr>
        </p:nvSpPr>
        <p:spPr/>
        <p:txBody>
          <a:bodyPr/>
          <a:lstStyle/>
          <a:p>
            <a:r>
              <a:rPr lang="en-IN" dirty="0"/>
              <a:t>.</a:t>
            </a:r>
          </a:p>
        </p:txBody>
      </p:sp>
      <p:pic>
        <p:nvPicPr>
          <p:cNvPr id="6" name="Picture 5" descr="E:\Shiva\VTU-logo.png">
            <a:extLst>
              <a:ext uri="{FF2B5EF4-FFF2-40B4-BE49-F238E27FC236}">
                <a16:creationId xmlns:a16="http://schemas.microsoft.com/office/drawing/2014/main" id="{B2A8D5DA-EFA2-1AA8-F7D9-4C7F5A44E91F}"/>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4A3A9783-1463-C8A4-3846-E37617CEF5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EE63CECA-D718-CC7B-8428-5E2625C6B24B}"/>
              </a:ext>
            </a:extLst>
          </p:cNvPr>
          <p:cNvSpPr/>
          <p:nvPr/>
        </p:nvSpPr>
        <p:spPr>
          <a:xfrm>
            <a:off x="3348617" y="1023088"/>
            <a:ext cx="26670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Data Collection</a:t>
            </a:r>
          </a:p>
        </p:txBody>
      </p:sp>
      <p:sp>
        <p:nvSpPr>
          <p:cNvPr id="11" name="Rectangle 10">
            <a:extLst>
              <a:ext uri="{FF2B5EF4-FFF2-40B4-BE49-F238E27FC236}">
                <a16:creationId xmlns:a16="http://schemas.microsoft.com/office/drawing/2014/main" id="{35DE717A-0211-7C8B-3603-54EB1256F053}"/>
              </a:ext>
            </a:extLst>
          </p:cNvPr>
          <p:cNvSpPr/>
          <p:nvPr/>
        </p:nvSpPr>
        <p:spPr>
          <a:xfrm>
            <a:off x="3352800" y="1827344"/>
            <a:ext cx="2667000" cy="5334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Data Preprocssing</a:t>
            </a:r>
          </a:p>
        </p:txBody>
      </p:sp>
      <p:sp>
        <p:nvSpPr>
          <p:cNvPr id="12" name="Rectangle 11">
            <a:extLst>
              <a:ext uri="{FF2B5EF4-FFF2-40B4-BE49-F238E27FC236}">
                <a16:creationId xmlns:a16="http://schemas.microsoft.com/office/drawing/2014/main" id="{9EE98285-D938-00D8-C4D8-B15518936B17}"/>
              </a:ext>
            </a:extLst>
          </p:cNvPr>
          <p:cNvSpPr/>
          <p:nvPr/>
        </p:nvSpPr>
        <p:spPr>
          <a:xfrm>
            <a:off x="3352800" y="2628510"/>
            <a:ext cx="2667000" cy="5334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Model Design</a:t>
            </a:r>
          </a:p>
        </p:txBody>
      </p:sp>
      <p:sp>
        <p:nvSpPr>
          <p:cNvPr id="13" name="Rectangle 12">
            <a:extLst>
              <a:ext uri="{FF2B5EF4-FFF2-40B4-BE49-F238E27FC236}">
                <a16:creationId xmlns:a16="http://schemas.microsoft.com/office/drawing/2014/main" id="{92680084-D20E-9788-97F8-A0D517B3AA90}"/>
              </a:ext>
            </a:extLst>
          </p:cNvPr>
          <p:cNvSpPr/>
          <p:nvPr/>
        </p:nvSpPr>
        <p:spPr>
          <a:xfrm>
            <a:off x="3352800" y="3429000"/>
            <a:ext cx="2667000" cy="5334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Model Training</a:t>
            </a:r>
          </a:p>
        </p:txBody>
      </p:sp>
      <p:sp>
        <p:nvSpPr>
          <p:cNvPr id="14" name="Rectangle 13">
            <a:extLst>
              <a:ext uri="{FF2B5EF4-FFF2-40B4-BE49-F238E27FC236}">
                <a16:creationId xmlns:a16="http://schemas.microsoft.com/office/drawing/2014/main" id="{45D6B113-2802-7BEF-3FCB-C387FEBD7DC3}"/>
              </a:ext>
            </a:extLst>
          </p:cNvPr>
          <p:cNvSpPr/>
          <p:nvPr/>
        </p:nvSpPr>
        <p:spPr>
          <a:xfrm>
            <a:off x="3352800" y="4267199"/>
            <a:ext cx="2667000" cy="5334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Model Evalution</a:t>
            </a:r>
          </a:p>
        </p:txBody>
      </p:sp>
      <p:sp>
        <p:nvSpPr>
          <p:cNvPr id="15" name="Rectangle 14">
            <a:extLst>
              <a:ext uri="{FF2B5EF4-FFF2-40B4-BE49-F238E27FC236}">
                <a16:creationId xmlns:a16="http://schemas.microsoft.com/office/drawing/2014/main" id="{0D5F0109-0223-E791-F8AD-3C532A5568D5}"/>
              </a:ext>
            </a:extLst>
          </p:cNvPr>
          <p:cNvSpPr/>
          <p:nvPr/>
        </p:nvSpPr>
        <p:spPr>
          <a:xfrm>
            <a:off x="3352800" y="5051160"/>
            <a:ext cx="2667000" cy="5876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Deployment</a:t>
            </a:r>
          </a:p>
        </p:txBody>
      </p:sp>
      <p:sp>
        <p:nvSpPr>
          <p:cNvPr id="16" name="Rectangle 15">
            <a:extLst>
              <a:ext uri="{FF2B5EF4-FFF2-40B4-BE49-F238E27FC236}">
                <a16:creationId xmlns:a16="http://schemas.microsoft.com/office/drawing/2014/main" id="{91F258D6-B0E5-EE11-A364-BA5539805A86}"/>
              </a:ext>
            </a:extLst>
          </p:cNvPr>
          <p:cNvSpPr/>
          <p:nvPr/>
        </p:nvSpPr>
        <p:spPr>
          <a:xfrm>
            <a:off x="3352800" y="5867400"/>
            <a:ext cx="2667000" cy="5876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Result Analysis &amp; Improvement</a:t>
            </a:r>
          </a:p>
        </p:txBody>
      </p:sp>
      <p:sp>
        <p:nvSpPr>
          <p:cNvPr id="19" name="Arrow: Down 18">
            <a:extLst>
              <a:ext uri="{FF2B5EF4-FFF2-40B4-BE49-F238E27FC236}">
                <a16:creationId xmlns:a16="http://schemas.microsoft.com/office/drawing/2014/main" id="{A3D802C8-3D5A-ACD5-85C2-7AC7D01BFDD0}"/>
              </a:ext>
            </a:extLst>
          </p:cNvPr>
          <p:cNvSpPr/>
          <p:nvPr/>
        </p:nvSpPr>
        <p:spPr>
          <a:xfrm>
            <a:off x="4640578" y="2388930"/>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Down 19">
            <a:extLst>
              <a:ext uri="{FF2B5EF4-FFF2-40B4-BE49-F238E27FC236}">
                <a16:creationId xmlns:a16="http://schemas.microsoft.com/office/drawing/2014/main" id="{10403004-2A34-AEA4-FE8E-C90807210C83}"/>
              </a:ext>
            </a:extLst>
          </p:cNvPr>
          <p:cNvSpPr/>
          <p:nvPr/>
        </p:nvSpPr>
        <p:spPr>
          <a:xfrm>
            <a:off x="4617719" y="3161911"/>
            <a:ext cx="45719" cy="2505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Down 22">
            <a:extLst>
              <a:ext uri="{FF2B5EF4-FFF2-40B4-BE49-F238E27FC236}">
                <a16:creationId xmlns:a16="http://schemas.microsoft.com/office/drawing/2014/main" id="{C8645FCF-CD2A-F447-D673-F4E1268588B3}"/>
              </a:ext>
            </a:extLst>
          </p:cNvPr>
          <p:cNvSpPr/>
          <p:nvPr/>
        </p:nvSpPr>
        <p:spPr>
          <a:xfrm>
            <a:off x="4663437" y="1564752"/>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Down 23">
            <a:extLst>
              <a:ext uri="{FF2B5EF4-FFF2-40B4-BE49-F238E27FC236}">
                <a16:creationId xmlns:a16="http://schemas.microsoft.com/office/drawing/2014/main" id="{1025093A-EF84-8181-0EA9-13EB82341928}"/>
              </a:ext>
            </a:extLst>
          </p:cNvPr>
          <p:cNvSpPr/>
          <p:nvPr/>
        </p:nvSpPr>
        <p:spPr>
          <a:xfrm>
            <a:off x="4634918" y="4013305"/>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Down 24">
            <a:extLst>
              <a:ext uri="{FF2B5EF4-FFF2-40B4-BE49-F238E27FC236}">
                <a16:creationId xmlns:a16="http://schemas.microsoft.com/office/drawing/2014/main" id="{6997ACFA-F54F-097F-9BED-A946D1394D64}"/>
              </a:ext>
            </a:extLst>
          </p:cNvPr>
          <p:cNvSpPr/>
          <p:nvPr/>
        </p:nvSpPr>
        <p:spPr>
          <a:xfrm>
            <a:off x="4652855" y="4822560"/>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Down 25">
            <a:extLst>
              <a:ext uri="{FF2B5EF4-FFF2-40B4-BE49-F238E27FC236}">
                <a16:creationId xmlns:a16="http://schemas.microsoft.com/office/drawing/2014/main" id="{319C9FF3-9733-E1B4-95DD-E9C161A04B4E}"/>
              </a:ext>
            </a:extLst>
          </p:cNvPr>
          <p:cNvSpPr/>
          <p:nvPr/>
        </p:nvSpPr>
        <p:spPr>
          <a:xfrm>
            <a:off x="4652854" y="5625206"/>
            <a:ext cx="45719" cy="228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6155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506CF-47B4-179E-8B42-573F93F08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FC529-E145-BFEF-D47C-80426AA5DD5C}"/>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Flowchart</a:t>
            </a:r>
          </a:p>
        </p:txBody>
      </p:sp>
      <p:sp>
        <p:nvSpPr>
          <p:cNvPr id="4" name="Slide Number Placeholder 3">
            <a:extLst>
              <a:ext uri="{FF2B5EF4-FFF2-40B4-BE49-F238E27FC236}">
                <a16:creationId xmlns:a16="http://schemas.microsoft.com/office/drawing/2014/main" id="{B3E26332-D011-7BEC-C55C-6F29B1E3E6F5}"/>
              </a:ext>
            </a:extLst>
          </p:cNvPr>
          <p:cNvSpPr>
            <a:spLocks noGrp="1"/>
          </p:cNvSpPr>
          <p:nvPr>
            <p:ph type="sldNum" sz="quarter" idx="12"/>
          </p:nvPr>
        </p:nvSpPr>
        <p:spPr/>
        <p:txBody>
          <a:bodyPr/>
          <a:lstStyle/>
          <a:p>
            <a:fld id="{F60AEBAE-898E-45EA-8968-F56BCCECE61B}" type="slidenum">
              <a:rPr lang="en-IN" smtClean="0"/>
              <a:pPr/>
              <a:t>12</a:t>
            </a:fld>
            <a:endParaRPr lang="en-IN" dirty="0"/>
          </a:p>
        </p:txBody>
      </p:sp>
      <p:sp>
        <p:nvSpPr>
          <p:cNvPr id="5" name="Footer Placeholder 4">
            <a:extLst>
              <a:ext uri="{FF2B5EF4-FFF2-40B4-BE49-F238E27FC236}">
                <a16:creationId xmlns:a16="http://schemas.microsoft.com/office/drawing/2014/main" id="{376C6A40-A4C4-3D9D-191D-11B9DB9F8D8C}"/>
              </a:ext>
            </a:extLst>
          </p:cNvPr>
          <p:cNvSpPr>
            <a:spLocks noGrp="1"/>
          </p:cNvSpPr>
          <p:nvPr>
            <p:ph type="ftr" sz="quarter" idx="11"/>
          </p:nvPr>
        </p:nvSpPr>
        <p:spPr/>
        <p:txBody>
          <a:bodyPr/>
          <a:lstStyle/>
          <a:p>
            <a:r>
              <a:rPr lang="en-IN" dirty="0"/>
              <a:t>.</a:t>
            </a:r>
          </a:p>
        </p:txBody>
      </p:sp>
      <p:pic>
        <p:nvPicPr>
          <p:cNvPr id="6" name="Picture 5" descr="E:\Shiva\VTU-logo.png">
            <a:extLst>
              <a:ext uri="{FF2B5EF4-FFF2-40B4-BE49-F238E27FC236}">
                <a16:creationId xmlns:a16="http://schemas.microsoft.com/office/drawing/2014/main" id="{22EB9FC8-D06B-F644-03D8-2BE28C848075}"/>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F6790461-BBDF-3394-1CD7-332309DD33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pic>
        <p:nvPicPr>
          <p:cNvPr id="11" name="Content Placeholder 10">
            <a:extLst>
              <a:ext uri="{FF2B5EF4-FFF2-40B4-BE49-F238E27FC236}">
                <a16:creationId xmlns:a16="http://schemas.microsoft.com/office/drawing/2014/main" id="{1F95424F-F6BB-56E4-FBEF-8D91408553FD}"/>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l="2858" t="13469" r="2858" b="2350"/>
          <a:stretch>
            <a:fillRect/>
          </a:stretch>
        </p:blipFill>
        <p:spPr>
          <a:xfrm>
            <a:off x="2133600" y="1687313"/>
            <a:ext cx="4800601" cy="4286251"/>
          </a:xfrm>
        </p:spPr>
      </p:pic>
    </p:spTree>
    <p:extLst>
      <p:ext uri="{BB962C8B-B14F-4D97-AF65-F5344CB8AC3E}">
        <p14:creationId xmlns:p14="http://schemas.microsoft.com/office/powerpoint/2010/main" val="1879543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33B0-8E1A-FE14-E0FB-5FAE06694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A9985-6D69-2E70-628C-B5ED8F80E491}"/>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Work Carried out so Far</a:t>
            </a:r>
          </a:p>
        </p:txBody>
      </p:sp>
      <p:sp>
        <p:nvSpPr>
          <p:cNvPr id="3" name="Content Placeholder 2">
            <a:extLst>
              <a:ext uri="{FF2B5EF4-FFF2-40B4-BE49-F238E27FC236}">
                <a16:creationId xmlns:a16="http://schemas.microsoft.com/office/drawing/2014/main" id="{2E5AF976-E5A4-0167-D353-6A7DB8CCC076}"/>
              </a:ext>
            </a:extLst>
          </p:cNvPr>
          <p:cNvSpPr>
            <a:spLocks noGrp="1"/>
          </p:cNvSpPr>
          <p:nvPr>
            <p:ph idx="1"/>
          </p:nvPr>
        </p:nvSpPr>
        <p:spPr>
          <a:xfrm>
            <a:off x="457200" y="1052736"/>
            <a:ext cx="8229600" cy="5112568"/>
          </a:xfrm>
        </p:spPr>
        <p:txBody>
          <a:bodyPr>
            <a:noAutofit/>
          </a:bodyPr>
          <a:lstStyle/>
          <a:p>
            <a:pPr algn="just">
              <a:lnSpc>
                <a:spcPct val="170000"/>
              </a:lnSpc>
            </a:pPr>
            <a:r>
              <a:rPr lang="en-US" sz="2000" dirty="0">
                <a:latin typeface="Times New Roman" pitchFamily="18" charset="0"/>
                <a:cs typeface="Times New Roman" pitchFamily="18" charset="0"/>
              </a:rPr>
              <a:t>Conducted an extensive literature review to understand existing disease detection methods.</a:t>
            </a:r>
          </a:p>
          <a:p>
            <a:pPr algn="just">
              <a:lnSpc>
                <a:spcPct val="170000"/>
              </a:lnSpc>
            </a:pPr>
            <a:r>
              <a:rPr lang="en-US" sz="2000" dirty="0">
                <a:latin typeface="Times New Roman" pitchFamily="18" charset="0"/>
                <a:cs typeface="Times New Roman" pitchFamily="18" charset="0"/>
              </a:rPr>
              <a:t>Compiled an initial dataset of silkworm images from reliable sources.</a:t>
            </a:r>
          </a:p>
          <a:p>
            <a:pPr algn="just">
              <a:lnSpc>
                <a:spcPct val="170000"/>
              </a:lnSpc>
            </a:pPr>
            <a:r>
              <a:rPr lang="en-US" sz="2000" dirty="0">
                <a:latin typeface="Times New Roman" pitchFamily="18" charset="0"/>
                <a:cs typeface="Times New Roman" pitchFamily="18" charset="0"/>
              </a:rPr>
              <a:t>Developed an early-stage image classification model using convolutional neural networks (CNN).</a:t>
            </a:r>
          </a:p>
          <a:p>
            <a:pPr algn="just">
              <a:lnSpc>
                <a:spcPct val="170000"/>
              </a:lnSpc>
            </a:pPr>
            <a:r>
              <a:rPr lang="en-US" sz="2000" dirty="0">
                <a:latin typeface="Times New Roman" pitchFamily="18" charset="0"/>
                <a:cs typeface="Times New Roman" pitchFamily="18" charset="0"/>
              </a:rPr>
              <a:t>Tested the model with a small dataset to evaluate preliminary accuracy and identify areas for improvement.</a:t>
            </a:r>
          </a:p>
        </p:txBody>
      </p:sp>
      <p:sp>
        <p:nvSpPr>
          <p:cNvPr id="4" name="Slide Number Placeholder 3">
            <a:extLst>
              <a:ext uri="{FF2B5EF4-FFF2-40B4-BE49-F238E27FC236}">
                <a16:creationId xmlns:a16="http://schemas.microsoft.com/office/drawing/2014/main" id="{67390BC1-1611-83F6-CF15-67BC82AE78A5}"/>
              </a:ext>
            </a:extLst>
          </p:cNvPr>
          <p:cNvSpPr>
            <a:spLocks noGrp="1"/>
          </p:cNvSpPr>
          <p:nvPr>
            <p:ph type="sldNum" sz="quarter" idx="12"/>
          </p:nvPr>
        </p:nvSpPr>
        <p:spPr/>
        <p:txBody>
          <a:bodyPr/>
          <a:lstStyle/>
          <a:p>
            <a:fld id="{F60AEBAE-898E-45EA-8968-F56BCCECE61B}" type="slidenum">
              <a:rPr lang="en-IN" smtClean="0"/>
              <a:pPr/>
              <a:t>13</a:t>
            </a:fld>
            <a:endParaRPr lang="en-IN" dirty="0"/>
          </a:p>
        </p:txBody>
      </p:sp>
      <p:sp>
        <p:nvSpPr>
          <p:cNvPr id="5" name="Footer Placeholder 4">
            <a:extLst>
              <a:ext uri="{FF2B5EF4-FFF2-40B4-BE49-F238E27FC236}">
                <a16:creationId xmlns:a16="http://schemas.microsoft.com/office/drawing/2014/main" id="{990CCFB8-D0FD-E649-BF76-3E1AECA51C0A}"/>
              </a:ext>
            </a:extLst>
          </p:cNvPr>
          <p:cNvSpPr>
            <a:spLocks noGrp="1"/>
          </p:cNvSpPr>
          <p:nvPr>
            <p:ph type="ftr" sz="quarter" idx="11"/>
          </p:nvPr>
        </p:nvSpPr>
        <p:spPr/>
        <p:txBody>
          <a:bodyPr/>
          <a:lstStyle/>
          <a:p>
            <a:r>
              <a:rPr lang="en-IN" dirty="0"/>
              <a:t>.</a:t>
            </a:r>
          </a:p>
        </p:txBody>
      </p:sp>
      <p:pic>
        <p:nvPicPr>
          <p:cNvPr id="6" name="Picture 5" descr="E:\Shiva\VTU-logo.png">
            <a:extLst>
              <a:ext uri="{FF2B5EF4-FFF2-40B4-BE49-F238E27FC236}">
                <a16:creationId xmlns:a16="http://schemas.microsoft.com/office/drawing/2014/main" id="{67C50927-05B3-F911-28DB-41C0D25ACE2C}"/>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CAF6CA7E-2C3E-A965-96CA-2599D4E9C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0956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50BE3-D793-D24F-822B-22FDDA042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4F830-09DC-D7BB-FBFD-886C27854FF9}"/>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Results </a:t>
            </a:r>
          </a:p>
        </p:txBody>
      </p:sp>
      <p:sp>
        <p:nvSpPr>
          <p:cNvPr id="4" name="Slide Number Placeholder 3">
            <a:extLst>
              <a:ext uri="{FF2B5EF4-FFF2-40B4-BE49-F238E27FC236}">
                <a16:creationId xmlns:a16="http://schemas.microsoft.com/office/drawing/2014/main" id="{52E1122F-2B27-0D36-EE75-D2C3B6388B68}"/>
              </a:ext>
            </a:extLst>
          </p:cNvPr>
          <p:cNvSpPr>
            <a:spLocks noGrp="1"/>
          </p:cNvSpPr>
          <p:nvPr>
            <p:ph type="sldNum" sz="quarter" idx="12"/>
          </p:nvPr>
        </p:nvSpPr>
        <p:spPr/>
        <p:txBody>
          <a:bodyPr/>
          <a:lstStyle/>
          <a:p>
            <a:fld id="{F60AEBAE-898E-45EA-8968-F56BCCECE61B}" type="slidenum">
              <a:rPr lang="en-IN" smtClean="0"/>
              <a:pPr/>
              <a:t>14</a:t>
            </a:fld>
            <a:endParaRPr lang="en-IN" dirty="0"/>
          </a:p>
        </p:txBody>
      </p:sp>
      <p:sp>
        <p:nvSpPr>
          <p:cNvPr id="5" name="Footer Placeholder 4">
            <a:extLst>
              <a:ext uri="{FF2B5EF4-FFF2-40B4-BE49-F238E27FC236}">
                <a16:creationId xmlns:a16="http://schemas.microsoft.com/office/drawing/2014/main" id="{0E949A2E-7BD8-FD23-5753-D258827BE2D3}"/>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EA25C187-8AB5-4C94-A120-8D58A928CE63}"/>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F33C2CBA-A7D2-CA90-DE47-3279C96972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92" y="67270"/>
            <a:ext cx="718615" cy="622800"/>
          </a:xfrm>
          <a:prstGeom prst="rect">
            <a:avLst/>
          </a:prstGeom>
          <a:noFill/>
          <a:extLst>
            <a:ext uri="{909E8E84-426E-40DD-AFC4-6F175D3DCCD1}">
              <a14:hiddenFill xmlns:a14="http://schemas.microsoft.com/office/drawing/2010/main">
                <a:solidFill>
                  <a:srgbClr val="FFFFFF"/>
                </a:solidFill>
              </a14:hiddenFill>
            </a:ext>
          </a:extLst>
        </p:spPr>
      </p:pic>
      <p:pic>
        <p:nvPicPr>
          <p:cNvPr id="11" name="Content Placeholder 10">
            <a:extLst>
              <a:ext uri="{FF2B5EF4-FFF2-40B4-BE49-F238E27FC236}">
                <a16:creationId xmlns:a16="http://schemas.microsoft.com/office/drawing/2014/main" id="{BDED584B-2EDF-0F57-C06C-57B812E61A79}"/>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t="8758" b="7061"/>
          <a:stretch>
            <a:fillRect/>
          </a:stretch>
        </p:blipFill>
        <p:spPr>
          <a:xfrm>
            <a:off x="288239" y="1245533"/>
            <a:ext cx="4055161" cy="2040899"/>
          </a:xfrm>
        </p:spPr>
      </p:pic>
      <p:pic>
        <p:nvPicPr>
          <p:cNvPr id="14" name="Picture 13">
            <a:extLst>
              <a:ext uri="{FF2B5EF4-FFF2-40B4-BE49-F238E27FC236}">
                <a16:creationId xmlns:a16="http://schemas.microsoft.com/office/drawing/2014/main" id="{0C231C67-8790-1FAA-5F25-7397ECBBE96F}"/>
              </a:ext>
            </a:extLst>
          </p:cNvPr>
          <p:cNvPicPr>
            <a:picLocks noChangeAspect="1"/>
          </p:cNvPicPr>
          <p:nvPr/>
        </p:nvPicPr>
        <p:blipFill>
          <a:blip r:embed="rId5" cstate="print">
            <a:extLst>
              <a:ext uri="{28A0092B-C50C-407E-A947-70E740481C1C}">
                <a14:useLocalDpi xmlns:a14="http://schemas.microsoft.com/office/drawing/2010/main" val="0"/>
              </a:ext>
            </a:extLst>
          </a:blip>
          <a:srcRect t="7229" b="6199"/>
          <a:stretch>
            <a:fillRect/>
          </a:stretch>
        </p:blipFill>
        <p:spPr>
          <a:xfrm>
            <a:off x="4678127" y="1245532"/>
            <a:ext cx="4114798" cy="2040899"/>
          </a:xfrm>
          <a:prstGeom prst="rect">
            <a:avLst/>
          </a:prstGeom>
        </p:spPr>
      </p:pic>
      <p:pic>
        <p:nvPicPr>
          <p:cNvPr id="17" name="Picture 16">
            <a:extLst>
              <a:ext uri="{FF2B5EF4-FFF2-40B4-BE49-F238E27FC236}">
                <a16:creationId xmlns:a16="http://schemas.microsoft.com/office/drawing/2014/main" id="{015FD980-BF88-5B5B-65CD-99C0CAA2FF8C}"/>
              </a:ext>
            </a:extLst>
          </p:cNvPr>
          <p:cNvPicPr>
            <a:picLocks noChangeAspect="1"/>
          </p:cNvPicPr>
          <p:nvPr/>
        </p:nvPicPr>
        <p:blipFill>
          <a:blip r:embed="rId6">
            <a:extLst>
              <a:ext uri="{28A0092B-C50C-407E-A947-70E740481C1C}">
                <a14:useLocalDpi xmlns:a14="http://schemas.microsoft.com/office/drawing/2010/main" val="0"/>
              </a:ext>
            </a:extLst>
          </a:blip>
          <a:srcRect l="1070" t="10232" b="14953"/>
          <a:stretch>
            <a:fillRect/>
          </a:stretch>
        </p:blipFill>
        <p:spPr>
          <a:xfrm>
            <a:off x="457200" y="3841894"/>
            <a:ext cx="7979308" cy="2406506"/>
          </a:xfrm>
          <a:prstGeom prst="rect">
            <a:avLst/>
          </a:prstGeom>
        </p:spPr>
      </p:pic>
    </p:spTree>
    <p:extLst>
      <p:ext uri="{BB962C8B-B14F-4D97-AF65-F5344CB8AC3E}">
        <p14:creationId xmlns:p14="http://schemas.microsoft.com/office/powerpoint/2010/main" val="1319437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E3916-3A27-1577-79CD-2BB428112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E0097-7DF7-0FFB-952F-9A8EC7FE5E99}"/>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Results</a:t>
            </a:r>
          </a:p>
        </p:txBody>
      </p:sp>
      <p:sp>
        <p:nvSpPr>
          <p:cNvPr id="4" name="Slide Number Placeholder 3">
            <a:extLst>
              <a:ext uri="{FF2B5EF4-FFF2-40B4-BE49-F238E27FC236}">
                <a16:creationId xmlns:a16="http://schemas.microsoft.com/office/drawing/2014/main" id="{3A0BE0A9-15AF-179F-C1BE-CBCDA8CB8B99}"/>
              </a:ext>
            </a:extLst>
          </p:cNvPr>
          <p:cNvSpPr>
            <a:spLocks noGrp="1"/>
          </p:cNvSpPr>
          <p:nvPr>
            <p:ph type="sldNum" sz="quarter" idx="12"/>
          </p:nvPr>
        </p:nvSpPr>
        <p:spPr/>
        <p:txBody>
          <a:bodyPr/>
          <a:lstStyle/>
          <a:p>
            <a:fld id="{F60AEBAE-898E-45EA-8968-F56BCCECE61B}" type="slidenum">
              <a:rPr lang="en-IN" smtClean="0"/>
              <a:pPr/>
              <a:t>15</a:t>
            </a:fld>
            <a:endParaRPr lang="en-IN" dirty="0"/>
          </a:p>
        </p:txBody>
      </p:sp>
      <p:sp>
        <p:nvSpPr>
          <p:cNvPr id="5" name="Footer Placeholder 4">
            <a:extLst>
              <a:ext uri="{FF2B5EF4-FFF2-40B4-BE49-F238E27FC236}">
                <a16:creationId xmlns:a16="http://schemas.microsoft.com/office/drawing/2014/main" id="{4E8FC37B-D39A-3E50-2EB3-F2B8954AC85F}"/>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D5EEB573-524E-367A-5A90-C3A62712D887}"/>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B79A7B09-C4D0-B041-B4CE-20C306C19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92" y="67270"/>
            <a:ext cx="718615" cy="6228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9A7F9CAE-5012-CB4A-B0BD-51E2403D1BD6}"/>
              </a:ext>
            </a:extLst>
          </p:cNvPr>
          <p:cNvPicPr>
            <a:picLocks noChangeAspect="1"/>
          </p:cNvPicPr>
          <p:nvPr/>
        </p:nvPicPr>
        <p:blipFill>
          <a:blip r:embed="rId4" cstate="print">
            <a:extLst>
              <a:ext uri="{28A0092B-C50C-407E-A947-70E740481C1C}">
                <a14:useLocalDpi xmlns:a14="http://schemas.microsoft.com/office/drawing/2010/main" val="0"/>
              </a:ext>
            </a:extLst>
          </a:blip>
          <a:srcRect l="1367" t="8235" r="5000" b="7037"/>
          <a:stretch>
            <a:fillRect/>
          </a:stretch>
        </p:blipFill>
        <p:spPr>
          <a:xfrm>
            <a:off x="234162" y="1245533"/>
            <a:ext cx="4130930" cy="2148204"/>
          </a:xfrm>
          <a:prstGeom prst="rect">
            <a:avLst/>
          </a:prstGeom>
        </p:spPr>
      </p:pic>
      <p:pic>
        <p:nvPicPr>
          <p:cNvPr id="13" name="Picture 12">
            <a:extLst>
              <a:ext uri="{FF2B5EF4-FFF2-40B4-BE49-F238E27FC236}">
                <a16:creationId xmlns:a16="http://schemas.microsoft.com/office/drawing/2014/main" id="{A284D35C-0256-4743-9417-E9FE64A99F39}"/>
              </a:ext>
            </a:extLst>
          </p:cNvPr>
          <p:cNvPicPr>
            <a:picLocks noChangeAspect="1"/>
          </p:cNvPicPr>
          <p:nvPr/>
        </p:nvPicPr>
        <p:blipFill>
          <a:blip r:embed="rId5" cstate="print">
            <a:extLst>
              <a:ext uri="{28A0092B-C50C-407E-A947-70E740481C1C}">
                <a14:useLocalDpi xmlns:a14="http://schemas.microsoft.com/office/drawing/2010/main" val="0"/>
              </a:ext>
            </a:extLst>
          </a:blip>
          <a:srcRect l="5538" t="8570" r="1231" b="7827"/>
          <a:stretch>
            <a:fillRect/>
          </a:stretch>
        </p:blipFill>
        <p:spPr>
          <a:xfrm>
            <a:off x="4642638" y="1279945"/>
            <a:ext cx="4267200" cy="2148205"/>
          </a:xfrm>
          <a:prstGeom prst="rect">
            <a:avLst/>
          </a:prstGeom>
        </p:spPr>
      </p:pic>
      <p:pic>
        <p:nvPicPr>
          <p:cNvPr id="18" name="Picture 17">
            <a:extLst>
              <a:ext uri="{FF2B5EF4-FFF2-40B4-BE49-F238E27FC236}">
                <a16:creationId xmlns:a16="http://schemas.microsoft.com/office/drawing/2014/main" id="{DE1396BB-9C15-8E4B-7527-9495123DEB1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7935" b="21155"/>
          <a:stretch>
            <a:fillRect/>
          </a:stretch>
        </p:blipFill>
        <p:spPr bwMode="auto">
          <a:xfrm>
            <a:off x="1706562" y="3949200"/>
            <a:ext cx="5730875" cy="214820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26236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2054F-A2AD-7975-C79E-E4D783596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FFB13-0325-2C63-360C-187B70B4C249}"/>
              </a:ext>
            </a:extLst>
          </p:cNvPr>
          <p:cNvSpPr>
            <a:spLocks noGrp="1"/>
          </p:cNvSpPr>
          <p:nvPr>
            <p:ph type="title"/>
          </p:nvPr>
        </p:nvSpPr>
        <p:spPr>
          <a:xfrm>
            <a:off x="457200" y="102533"/>
            <a:ext cx="8229600" cy="1143000"/>
          </a:xfrm>
        </p:spPr>
        <p:txBody>
          <a:bodyPr>
            <a:normAutofit/>
          </a:bodyPr>
          <a:lstStyle/>
          <a:p>
            <a:r>
              <a:rPr lang="en-IN" sz="3200" dirty="0">
                <a:solidFill>
                  <a:schemeClr val="accent6">
                    <a:lumMod val="75000"/>
                  </a:schemeClr>
                </a:solidFill>
                <a:latin typeface="Times New Roman" pitchFamily="18" charset="0"/>
                <a:cs typeface="Times New Roman" pitchFamily="18" charset="0"/>
              </a:rPr>
              <a:t>References</a:t>
            </a:r>
          </a:p>
        </p:txBody>
      </p:sp>
      <p:sp>
        <p:nvSpPr>
          <p:cNvPr id="3" name="Content Placeholder 2">
            <a:extLst>
              <a:ext uri="{FF2B5EF4-FFF2-40B4-BE49-F238E27FC236}">
                <a16:creationId xmlns:a16="http://schemas.microsoft.com/office/drawing/2014/main" id="{C989904E-F516-AED8-1F3E-D04BB14A1390}"/>
              </a:ext>
            </a:extLst>
          </p:cNvPr>
          <p:cNvSpPr>
            <a:spLocks noGrp="1"/>
          </p:cNvSpPr>
          <p:nvPr>
            <p:ph idx="1"/>
          </p:nvPr>
        </p:nvSpPr>
        <p:spPr>
          <a:xfrm>
            <a:off x="457200" y="1052736"/>
            <a:ext cx="8229600" cy="5112568"/>
          </a:xfrm>
        </p:spPr>
        <p:txBody>
          <a:bodyPr>
            <a:noAutofit/>
          </a:bodyPr>
          <a:lstStyle/>
          <a:p>
            <a:pPr marL="0" indent="0" algn="just">
              <a:lnSpc>
                <a:spcPct val="150000"/>
              </a:lnSpc>
              <a:buNone/>
            </a:pPr>
            <a:r>
              <a:rPr lang="en-IN" sz="1600" dirty="0">
                <a:latin typeface="Times New Roman" panose="02020603050405020304" pitchFamily="18" charset="0"/>
                <a:cs typeface="Times New Roman" panose="02020603050405020304" pitchFamily="18" charset="0"/>
              </a:rPr>
              <a:t>[1] Shilpa B. </a:t>
            </a:r>
            <a:r>
              <a:rPr lang="en-IN" sz="1600" dirty="0" err="1">
                <a:latin typeface="Times New Roman" panose="02020603050405020304" pitchFamily="18" charset="0"/>
                <a:cs typeface="Times New Roman" panose="02020603050405020304" pitchFamily="18" charset="0"/>
              </a:rPr>
              <a:t>Kodli</a:t>
            </a:r>
            <a:r>
              <a:rPr lang="en-IN" sz="1600" dirty="0">
                <a:latin typeface="Times New Roman" panose="02020603050405020304" pitchFamily="18" charset="0"/>
                <a:cs typeface="Times New Roman" panose="02020603050405020304" pitchFamily="18" charset="0"/>
              </a:rPr>
              <a:t> and Anita, A Novel Approach for Silkworm Disease Detection and Classification by Using CNN and Image Processing Techniques, 2025.</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[2] Suchitha H. S., Anish A. R., Gagandeep J. E., Manoj M., and Manu G., Silkworm Yield Prediction: Exploring Leaf Types and Species, 2025.</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[3] Yutong Liu et al., A Comprehensive Prediction System for Silkworm Acute Toxicity Assessment of Environmental and In-Silico Pesticides, 2024.</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[4] Manju G., </a:t>
            </a:r>
            <a:r>
              <a:rPr lang="en-IN" sz="1600" dirty="0" err="1">
                <a:latin typeface="Times New Roman" panose="02020603050405020304" pitchFamily="18" charset="0"/>
                <a:cs typeface="Times New Roman" panose="02020603050405020304" pitchFamily="18" charset="0"/>
              </a:rPr>
              <a:t>Grasserie</a:t>
            </a:r>
            <a:r>
              <a:rPr lang="en-IN" sz="1600" dirty="0">
                <a:latin typeface="Times New Roman" panose="02020603050405020304" pitchFamily="18" charset="0"/>
                <a:cs typeface="Times New Roman" panose="02020603050405020304" pitchFamily="18" charset="0"/>
              </a:rPr>
              <a:t> Disease Detection in Silkworm Using Machine Learning Methods, 2024.</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[5] Raghavendra C. G. and Dharini Raghavan, </a:t>
            </a:r>
            <a:r>
              <a:rPr lang="en-IN" sz="1600" dirty="0" err="1">
                <a:latin typeface="Times New Roman" panose="02020603050405020304" pitchFamily="18" charset="0"/>
                <a:cs typeface="Times New Roman" panose="02020603050405020304" pitchFamily="18" charset="0"/>
              </a:rPr>
              <a:t>Grasserie</a:t>
            </a:r>
            <a:r>
              <a:rPr lang="en-IN" sz="1600" dirty="0">
                <a:latin typeface="Times New Roman" panose="02020603050405020304" pitchFamily="18" charset="0"/>
                <a:cs typeface="Times New Roman" panose="02020603050405020304" pitchFamily="18" charset="0"/>
              </a:rPr>
              <a:t> Disease </a:t>
            </a:r>
            <a:r>
              <a:rPr lang="en-IN" sz="1600" dirty="0" err="1">
                <a:latin typeface="Times New Roman" panose="02020603050405020304" pitchFamily="18" charset="0"/>
                <a:cs typeface="Times New Roman" panose="02020603050405020304" pitchFamily="18" charset="0"/>
              </a:rPr>
              <a:t>Identi-fication</a:t>
            </a:r>
            <a:r>
              <a:rPr lang="en-IN" sz="1600" dirty="0">
                <a:latin typeface="Times New Roman" panose="02020603050405020304" pitchFamily="18" charset="0"/>
                <a:cs typeface="Times New Roman" panose="02020603050405020304" pitchFamily="18" charset="0"/>
              </a:rPr>
              <a:t> in Bombyx Mori Silkworm Using Ensemble Learning Ap-</a:t>
            </a:r>
            <a:r>
              <a:rPr lang="en-IN" sz="1600" dirty="0" err="1">
                <a:latin typeface="Times New Roman" panose="02020603050405020304" pitchFamily="18" charset="0"/>
                <a:cs typeface="Times New Roman" panose="02020603050405020304" pitchFamily="18" charset="0"/>
              </a:rPr>
              <a:t>proach</a:t>
            </a:r>
            <a:r>
              <a:rPr lang="en-IN" sz="1600" dirty="0">
                <a:latin typeface="Times New Roman" panose="02020603050405020304" pitchFamily="18" charset="0"/>
                <a:cs typeface="Times New Roman" panose="02020603050405020304" pitchFamily="18" charset="0"/>
              </a:rPr>
              <a:t>, 2022.</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[6] </a:t>
            </a:r>
            <a:r>
              <a:rPr lang="en-IN" sz="1600" dirty="0" err="1">
                <a:latin typeface="Times New Roman" panose="02020603050405020304" pitchFamily="18" charset="0"/>
                <a:cs typeface="Times New Roman" panose="02020603050405020304" pitchFamily="18" charset="0"/>
              </a:rPr>
              <a:t>Jonali</a:t>
            </a:r>
            <a:r>
              <a:rPr lang="en-IN" sz="1600" dirty="0">
                <a:latin typeface="Times New Roman" panose="02020603050405020304" pitchFamily="18" charset="0"/>
                <a:cs typeface="Times New Roman" panose="02020603050405020304" pitchFamily="18" charset="0"/>
              </a:rPr>
              <a:t> Goswami, Nasreen Rasid, and D. K. Gogoi, Development of a Muga Disease Early Warning System A Mobile-Based Service for Seri Farmers, 2021.</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[7] Hui Xiang, </a:t>
            </a:r>
            <a:r>
              <a:rPr lang="en-IN" sz="1600" dirty="0" err="1">
                <a:latin typeface="Times New Roman" panose="02020603050405020304" pitchFamily="18" charset="0"/>
                <a:cs typeface="Times New Roman" panose="02020603050405020304" pitchFamily="18" charset="0"/>
              </a:rPr>
              <a:t>Xiaojingnd</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Muwang</a:t>
            </a:r>
            <a:r>
              <a:rPr lang="en-IN" sz="1600" dirty="0">
                <a:latin typeface="Times New Roman" panose="02020603050405020304" pitchFamily="18" charset="0"/>
                <a:cs typeface="Times New Roman" panose="02020603050405020304" pitchFamily="18" charset="0"/>
              </a:rPr>
              <a:t> Li, The Evolutionary Road frond Moth to Domestic Silkworm. 2018.</a:t>
            </a:r>
          </a:p>
        </p:txBody>
      </p:sp>
      <p:sp>
        <p:nvSpPr>
          <p:cNvPr id="4" name="Slide Number Placeholder 3">
            <a:extLst>
              <a:ext uri="{FF2B5EF4-FFF2-40B4-BE49-F238E27FC236}">
                <a16:creationId xmlns:a16="http://schemas.microsoft.com/office/drawing/2014/main" id="{ACEFA053-B2CA-3454-2D84-B05936D60A19}"/>
              </a:ext>
            </a:extLst>
          </p:cNvPr>
          <p:cNvSpPr>
            <a:spLocks noGrp="1"/>
          </p:cNvSpPr>
          <p:nvPr>
            <p:ph type="sldNum" sz="quarter" idx="12"/>
          </p:nvPr>
        </p:nvSpPr>
        <p:spPr/>
        <p:txBody>
          <a:bodyPr/>
          <a:lstStyle/>
          <a:p>
            <a:fld id="{F60AEBAE-898E-45EA-8968-F56BCCECE61B}" type="slidenum">
              <a:rPr lang="en-IN" smtClean="0"/>
              <a:pPr/>
              <a:t>16</a:t>
            </a:fld>
            <a:endParaRPr lang="en-IN" dirty="0"/>
          </a:p>
        </p:txBody>
      </p:sp>
      <p:sp>
        <p:nvSpPr>
          <p:cNvPr id="5" name="Footer Placeholder 4">
            <a:extLst>
              <a:ext uri="{FF2B5EF4-FFF2-40B4-BE49-F238E27FC236}">
                <a16:creationId xmlns:a16="http://schemas.microsoft.com/office/drawing/2014/main" id="{7936B3B1-3F68-E563-0680-52841CE6D871}"/>
              </a:ext>
            </a:extLst>
          </p:cNvPr>
          <p:cNvSpPr>
            <a:spLocks noGrp="1"/>
          </p:cNvSpPr>
          <p:nvPr>
            <p:ph type="ftr" sz="quarter" idx="11"/>
          </p:nvPr>
        </p:nvSpPr>
        <p:spPr/>
        <p:txBody>
          <a:bodyPr/>
          <a:lstStyle/>
          <a:p>
            <a:r>
              <a:rPr lang="en-IN" dirty="0"/>
              <a:t>Dept. of CSE, VVIET, Mysuru-28</a:t>
            </a:r>
          </a:p>
        </p:txBody>
      </p:sp>
      <p:pic>
        <p:nvPicPr>
          <p:cNvPr id="6" name="Picture 5" descr="E:\Shiva\VTU-logo.png">
            <a:extLst>
              <a:ext uri="{FF2B5EF4-FFF2-40B4-BE49-F238E27FC236}">
                <a16:creationId xmlns:a16="http://schemas.microsoft.com/office/drawing/2014/main" id="{10211610-1205-3566-CA52-E7316AF3DAFA}"/>
              </a:ext>
            </a:extLst>
          </p:cNvPr>
          <p:cNvPicPr/>
          <p:nvPr/>
        </p:nvPicPr>
        <p:blipFill>
          <a:blip r:embed="rId2" cstate="print"/>
          <a:srcRect/>
          <a:stretch>
            <a:fillRect/>
          </a:stretch>
        </p:blipFill>
        <p:spPr bwMode="auto">
          <a:xfrm>
            <a:off x="7858148" y="0"/>
            <a:ext cx="997613" cy="928671"/>
          </a:xfrm>
          <a:prstGeom prst="rect">
            <a:avLst/>
          </a:prstGeom>
          <a:noFill/>
          <a:ln w="9525">
            <a:noFill/>
            <a:miter lim="800000"/>
            <a:headEnd/>
            <a:tailEnd/>
          </a:ln>
        </p:spPr>
      </p:pic>
      <p:pic>
        <p:nvPicPr>
          <p:cNvPr id="7" name="Picture 1">
            <a:extLst>
              <a:ext uri="{FF2B5EF4-FFF2-40B4-BE49-F238E27FC236}">
                <a16:creationId xmlns:a16="http://schemas.microsoft.com/office/drawing/2014/main" id="{E1730A64-F79E-5918-2D7F-AB8E6032B1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5" y="179377"/>
            <a:ext cx="718615" cy="62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6921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6309</TotalTime>
  <Words>1070</Words>
  <Application>Microsoft Office PowerPoint</Application>
  <PresentationFormat>On-screen Show (4:3)</PresentationFormat>
  <Paragraphs>165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Office Theme</vt:lpstr>
      <vt:lpstr>PowerPoint Presentation</vt:lpstr>
      <vt:lpstr>Contents</vt:lpstr>
      <vt:lpstr>Introduction</vt:lpstr>
      <vt:lpstr>Literature survey </vt:lpstr>
      <vt:lpstr>Literature survey </vt:lpstr>
      <vt:lpstr>Literature survey </vt:lpstr>
      <vt:lpstr>Problem statement </vt:lpstr>
      <vt:lpstr> Objectives</vt:lpstr>
      <vt:lpstr> Hardware requirements </vt:lpstr>
      <vt:lpstr> Software requirement</vt:lpstr>
      <vt:lpstr>Methodology  </vt:lpstr>
      <vt:lpstr>Flowchart</vt:lpstr>
      <vt:lpstr>Work Carried out so Far</vt:lpstr>
      <vt:lpstr>Results </vt:lpstr>
      <vt:lpstr>Results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Visvesvaraya Technological University</dc:title>
  <dc:creator>admin</dc:creator>
  <cp:lastModifiedBy>sinchana y m</cp:lastModifiedBy>
  <cp:revision>91</cp:revision>
  <dcterms:created xsi:type="dcterms:W3CDTF">2022-01-29T06:41:33Z</dcterms:created>
  <dcterms:modified xsi:type="dcterms:W3CDTF">2025-12-01T14:48:28Z</dcterms:modified>
</cp:coreProperties>
</file>